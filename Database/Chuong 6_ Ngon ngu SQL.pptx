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</p:sldMasterIdLst>
  <p:notesMasterIdLst>
    <p:notesMasterId r:id="rId84"/>
  </p:notesMasterIdLst>
  <p:sldIdLst>
    <p:sldId id="331" r:id="rId2"/>
    <p:sldId id="345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344" r:id="rId33"/>
    <p:sldId id="277" r:id="rId34"/>
    <p:sldId id="278" r:id="rId35"/>
    <p:sldId id="279" r:id="rId36"/>
    <p:sldId id="280" r:id="rId37"/>
    <p:sldId id="281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347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10" r:id="rId66"/>
    <p:sldId id="314" r:id="rId67"/>
    <p:sldId id="315" r:id="rId68"/>
    <p:sldId id="316" r:id="rId69"/>
    <p:sldId id="317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46" r:id="rId81"/>
    <p:sldId id="329" r:id="rId82"/>
    <p:sldId id="330" r:id="rId83"/>
  </p:sldIdLst>
  <p:sldSz cx="10080625" cy="7559675"/>
  <p:notesSz cx="7559675" cy="10691813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1pPr>
    <a:lvl2pPr marL="404813" indent="-195263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2pPr>
    <a:lvl3pPr marL="620713" indent="-193675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3pPr>
    <a:lvl4pPr marL="836613" indent="-204788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4pPr>
    <a:lvl5pPr marL="1052513" indent="-193675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Arial Unicode MS" panose="020B060402020202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713" autoAdjust="0"/>
  </p:normalViewPr>
  <p:slideViewPr>
    <p:cSldViewPr>
      <p:cViewPr varScale="1">
        <p:scale>
          <a:sx n="51" d="100"/>
          <a:sy n="51" d="100"/>
        </p:scale>
        <p:origin x="1568" y="3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1" name="AutoShape 2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2" name="AutoShape 3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3" name="AutoShape 4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4" name="AutoShape 5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5" name="AutoShape 6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6" name="AutoShape 7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7" name="AutoShape 8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8" name="AutoShape 9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59" name="AutoShape 10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0" name="AutoShape 11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1" name="AutoShape 12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2" name="AutoShape 13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3" name="AutoShape 14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4" name="AutoShape 15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5" name="AutoShape 16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6" name="AutoShape 17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67" name="Rectangle 1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2863" y="1027113"/>
            <a:ext cx="4905375" cy="367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19"/>
          <p:cNvSpPr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197475" cy="407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60708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8.bin"/><Relationship Id="rId3" Type="http://schemas.openxmlformats.org/officeDocument/2006/relationships/slide" Target="../slides/slide49.xml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7.bin"/><Relationship Id="rId2" Type="http://schemas.openxmlformats.org/officeDocument/2006/relationships/notesMaster" Target="../notesMasters/notesMaster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9.bin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09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42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24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90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229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37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33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32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638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83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843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38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48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37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253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70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457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70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867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00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78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48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19700" cy="41005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80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614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84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819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15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24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01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229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22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33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94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638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1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843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29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048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38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253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0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457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36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662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43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2867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512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3072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200" dirty="0" err="1" smtClean="0"/>
              <a:t>Thêm</a:t>
            </a:r>
            <a:r>
              <a:rPr lang="en-US" sz="1200" baseline="0" dirty="0" smtClean="0"/>
              <a:t> 1 </a:t>
            </a:r>
            <a:r>
              <a:rPr lang="en-US" sz="1200" baseline="0" dirty="0" err="1" smtClean="0"/>
              <a:t>thuộc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tính</a:t>
            </a:r>
            <a:r>
              <a:rPr lang="en-US" sz="1200" baseline="0" dirty="0" smtClean="0"/>
              <a:t> </a:t>
            </a:r>
          </a:p>
          <a:p>
            <a:r>
              <a:rPr lang="en-US" sz="1200" baseline="0" dirty="0" err="1" smtClean="0"/>
              <a:t>Xóa</a:t>
            </a:r>
            <a:r>
              <a:rPr lang="en-US" sz="1200" baseline="0" dirty="0" smtClean="0"/>
              <a:t> 1 </a:t>
            </a:r>
            <a:r>
              <a:rPr lang="en-US" sz="1200" baseline="0" dirty="0" err="1" smtClean="0"/>
              <a:t>thuộc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tính</a:t>
            </a:r>
            <a:r>
              <a:rPr lang="en-US" sz="1200" baseline="0" dirty="0" smtClean="0"/>
              <a:t> </a:t>
            </a:r>
          </a:p>
          <a:p>
            <a:r>
              <a:rPr lang="en-US" sz="1200" baseline="0" dirty="0" err="1" smtClean="0"/>
              <a:t>Sửa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lại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cột</a:t>
            </a:r>
            <a:r>
              <a:rPr lang="en-US" sz="1200" baseline="0" dirty="0" smtClean="0"/>
              <a:t> </a:t>
            </a:r>
          </a:p>
          <a:p>
            <a:r>
              <a:rPr lang="en-US" sz="1200" baseline="0" dirty="0" err="1" smtClean="0"/>
              <a:t>Xóa</a:t>
            </a:r>
            <a:r>
              <a:rPr lang="en-US" sz="1200" baseline="0" dirty="0" smtClean="0"/>
              <a:t> 1 </a:t>
            </a:r>
            <a:r>
              <a:rPr lang="en-US" sz="1200" baseline="0" dirty="0" err="1" smtClean="0"/>
              <a:t>ràng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buộc</a:t>
            </a:r>
            <a:r>
              <a:rPr lang="en-US" sz="1200" baseline="0" dirty="0" smtClean="0"/>
              <a:t> </a:t>
            </a:r>
          </a:p>
          <a:p>
            <a:r>
              <a:rPr lang="en-US" sz="1200" baseline="0" dirty="0" err="1" smtClean="0"/>
              <a:t>Bổ</a:t>
            </a:r>
            <a:r>
              <a:rPr lang="en-US" sz="1200" baseline="0" dirty="0" smtClean="0"/>
              <a:t> sung 1 </a:t>
            </a:r>
            <a:r>
              <a:rPr lang="en-US" sz="1200" baseline="0" dirty="0" err="1" smtClean="0"/>
              <a:t>ràng</a:t>
            </a:r>
            <a:r>
              <a:rPr lang="en-US" sz="1200" baseline="0" dirty="0" smtClean="0"/>
              <a:t> </a:t>
            </a:r>
            <a:r>
              <a:rPr lang="en-US" sz="1200" baseline="0" dirty="0" err="1" smtClean="0"/>
              <a:t>buộc</a:t>
            </a:r>
            <a:r>
              <a:rPr lang="en-US" sz="1200" baseline="0" dirty="0" smtClean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148165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3277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774337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3481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301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3686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781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3891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3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096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513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301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876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614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99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710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338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915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smtClean="0"/>
              <a:t>All: </a:t>
            </a:r>
            <a:r>
              <a:rPr lang="en-US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hết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trùng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hết</a:t>
            </a:r>
            <a:r>
              <a:rPr lang="en-US" baseline="0" dirty="0" smtClean="0"/>
              <a:t>)</a:t>
            </a:r>
          </a:p>
          <a:p>
            <a:r>
              <a:rPr lang="en-US" baseline="0" dirty="0" smtClean="0"/>
              <a:t>Distinct : </a:t>
            </a:r>
            <a:r>
              <a:rPr lang="en-US" baseline="0" dirty="0" err="1" smtClean="0"/>
              <a:t>nếu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nhau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1</a:t>
            </a:r>
          </a:p>
          <a:p>
            <a:r>
              <a:rPr lang="en-US" baseline="0" dirty="0" smtClean="0"/>
              <a:t>Select … from … where(SFW): </a:t>
            </a:r>
            <a:r>
              <a:rPr lang="en-US" baseline="0" dirty="0" err="1" smtClean="0"/>
              <a:t>chọn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gì</a:t>
            </a:r>
            <a:r>
              <a:rPr lang="en-US" baseline="0" dirty="0" smtClean="0"/>
              <a:t>? </a:t>
            </a:r>
            <a:r>
              <a:rPr lang="en-US" baseline="0" dirty="0" err="1" smtClean="0"/>
              <a:t>Từ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đâu</a:t>
            </a:r>
            <a:r>
              <a:rPr lang="en-US" baseline="0" dirty="0" smtClean="0"/>
              <a:t>?</a:t>
            </a:r>
          </a:p>
          <a:p>
            <a:r>
              <a:rPr lang="en-US" baseline="0" dirty="0" smtClean="0"/>
              <a:t>Having : </a:t>
            </a:r>
            <a:r>
              <a:rPr lang="en-US" baseline="0" dirty="0" err="1" smtClean="0"/>
              <a:t>lọc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ddkien</a:t>
            </a:r>
            <a:r>
              <a:rPr lang="en-US" baseline="0" dirty="0" smtClean="0"/>
              <a:t> </a:t>
            </a:r>
          </a:p>
          <a:p>
            <a:endParaRPr lang="en-US" baseline="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082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5120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830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5325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817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5529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160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5939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198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6144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735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6349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098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6553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144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6758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 smtClean="0"/>
              <a:t>Phân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</a:t>
            </a:r>
            <a:r>
              <a:rPr lang="en-US" baseline="0" dirty="0" smtClean="0"/>
              <a:t> :</a:t>
            </a:r>
          </a:p>
          <a:p>
            <a:r>
              <a:rPr lang="en-US" baseline="0" dirty="0" err="1" smtClean="0"/>
              <a:t>Kết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câu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lệnh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2 </a:t>
            </a:r>
            <a:r>
              <a:rPr lang="en-US" baseline="0" dirty="0" err="1" smtClean="0"/>
              <a:t>thuộc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tính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họ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đêm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sv</a:t>
            </a:r>
            <a:r>
              <a:rPr lang="en-US" baseline="0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8570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6963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951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7168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họ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đệm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tuổi</a:t>
            </a:r>
            <a:r>
              <a:rPr lang="en-US" baseline="0" dirty="0" smtClean="0"/>
              <a:t> =&gt; </a:t>
            </a:r>
            <a:r>
              <a:rPr lang="en-US" baseline="0" dirty="0" err="1" smtClean="0"/>
              <a:t>lưu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“</a:t>
            </a:r>
            <a:r>
              <a:rPr lang="en-US" baseline="0" dirty="0" err="1" smtClean="0"/>
              <a:t>tuoi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sv</a:t>
            </a:r>
            <a:r>
              <a:rPr lang="en-US" baseline="0" dirty="0" smtClean="0"/>
              <a:t>” =&gt; </a:t>
            </a:r>
            <a:r>
              <a:rPr lang="en-US" baseline="0" dirty="0" err="1" smtClean="0"/>
              <a:t>truy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trên</a:t>
            </a:r>
            <a:r>
              <a:rPr lang="en-US" baseline="0" dirty="0" smtClean="0"/>
              <a:t> “</a:t>
            </a:r>
            <a:r>
              <a:rPr lang="en-US" baseline="0" dirty="0" err="1" smtClean="0"/>
              <a:t>tuoisv</a:t>
            </a:r>
            <a:r>
              <a:rPr lang="en-US" baseline="0" dirty="0" smtClean="0"/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686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7373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967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7577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 smtClean="0"/>
              <a:t>Câu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lệnh</a:t>
            </a:r>
            <a:r>
              <a:rPr lang="en-US" baseline="0" dirty="0" smtClean="0"/>
              <a:t> 1: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ds </a:t>
            </a:r>
            <a:r>
              <a:rPr lang="en-US" baseline="0" dirty="0" err="1" smtClean="0"/>
              <a:t>thông</a:t>
            </a:r>
            <a:r>
              <a:rPr lang="en-US" baseline="0" dirty="0" smtClean="0"/>
              <a:t> tin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môn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học</a:t>
            </a:r>
            <a:r>
              <a:rPr lang="en-US" baseline="0" dirty="0" smtClean="0"/>
              <a:t>  =&gt; </a:t>
            </a:r>
            <a:r>
              <a:rPr lang="en-US" baseline="0" dirty="0" err="1" smtClean="0"/>
              <a:t>sx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môn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học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sodvht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giảm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dần</a:t>
            </a:r>
            <a:r>
              <a:rPr lang="en-US" baseline="0" dirty="0" smtClean="0"/>
              <a:t> </a:t>
            </a:r>
          </a:p>
          <a:p>
            <a:r>
              <a:rPr lang="en-US" baseline="0" dirty="0" err="1" smtClean="0"/>
              <a:t>Câu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lệnh</a:t>
            </a:r>
            <a:r>
              <a:rPr lang="en-US" baseline="0" dirty="0" smtClean="0"/>
              <a:t> 2: </a:t>
            </a:r>
            <a:r>
              <a:rPr lang="en-US" baseline="0" dirty="0" err="1" smtClean="0"/>
              <a:t>chiếu</a:t>
            </a:r>
            <a:r>
              <a:rPr lang="en-US" baseline="0" dirty="0" smtClean="0"/>
              <a:t> =&gt; </a:t>
            </a:r>
            <a:r>
              <a:rPr lang="en-US" baseline="0" dirty="0" err="1" smtClean="0"/>
              <a:t>đưa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hodem</a:t>
            </a:r>
            <a:r>
              <a:rPr lang="en-US" baseline="0" dirty="0" smtClean="0"/>
              <a:t>, ten, </a:t>
            </a:r>
            <a:r>
              <a:rPr lang="en-US" baseline="0" dirty="0" err="1" smtClean="0"/>
              <a:t>gioitinh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tuoi</a:t>
            </a:r>
            <a:r>
              <a:rPr lang="en-US" baseline="0" dirty="0" smtClean="0"/>
              <a:t>  </a:t>
            </a:r>
            <a:r>
              <a:rPr lang="en-US" baseline="0" dirty="0" err="1" smtClean="0"/>
              <a:t>của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sv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tên</a:t>
            </a:r>
            <a:r>
              <a:rPr lang="en-US" baseline="0" dirty="0" smtClean="0"/>
              <a:t> “</a:t>
            </a:r>
            <a:r>
              <a:rPr lang="en-US" baseline="0" dirty="0" err="1" smtClean="0"/>
              <a:t>Bình</a:t>
            </a:r>
            <a:r>
              <a:rPr lang="en-US" baseline="0" dirty="0" smtClean="0"/>
              <a:t>”=&gt; </a:t>
            </a:r>
            <a:r>
              <a:rPr lang="en-US" baseline="0" dirty="0" err="1" smtClean="0"/>
              <a:t>sx</a:t>
            </a:r>
            <a:r>
              <a:rPr lang="en-US" baseline="0" dirty="0" smtClean="0"/>
              <a:t> ds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thức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nam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trước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nữ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sau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nếu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tính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sx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tuổi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tăng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dần</a:t>
            </a:r>
            <a:r>
              <a:rPr lang="en-US" baseline="0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951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7782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641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7987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54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8192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049682"/>
              </p:ext>
            </p:extLst>
          </p:nvPr>
        </p:nvGraphicFramePr>
        <p:xfrm>
          <a:off x="2173288" y="5218113"/>
          <a:ext cx="3213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4" imgW="3213000" imgH="253800" progId="Equation.DSMT4">
                  <p:embed/>
                </p:oleObj>
              </mc:Choice>
              <mc:Fallback>
                <p:oleObj name="Equation" r:id="rId4" imgW="3213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73288" y="5218113"/>
                        <a:ext cx="3213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077667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6" imgW="3225600" imgH="253800" progId="Equation.DSMT4">
                  <p:embed/>
                </p:oleObj>
              </mc:Choice>
              <mc:Fallback>
                <p:oleObj name="Equation" r:id="rId6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369397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8" imgW="3225600" imgH="253800" progId="Equation.DSMT4">
                  <p:embed/>
                </p:oleObj>
              </mc:Choice>
              <mc:Fallback>
                <p:oleObj name="Equation" r:id="rId8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730638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9" imgW="3225600" imgH="253800" progId="Equation.DSMT4">
                  <p:embed/>
                </p:oleObj>
              </mc:Choice>
              <mc:Fallback>
                <p:oleObj name="Equation" r:id="rId9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579581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10" imgW="3225600" imgH="253800" progId="Equation.DSMT4">
                  <p:embed/>
                </p:oleObj>
              </mc:Choice>
              <mc:Fallback>
                <p:oleObj name="Equation" r:id="rId10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61142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11" imgW="3225600" imgH="253800" progId="Equation.DSMT4">
                  <p:embed/>
                </p:oleObj>
              </mc:Choice>
              <mc:Fallback>
                <p:oleObj name="Equation" r:id="rId11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826841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12" imgW="3225600" imgH="253800" progId="Equation.DSMT4">
                  <p:embed/>
                </p:oleObj>
              </mc:Choice>
              <mc:Fallback>
                <p:oleObj name="Equation" r:id="rId12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003021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13" imgW="3225600" imgH="253800" progId="Equation.DSMT4">
                  <p:embed/>
                </p:oleObj>
              </mc:Choice>
              <mc:Fallback>
                <p:oleObj name="Equation" r:id="rId13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689777"/>
              </p:ext>
            </p:extLst>
          </p:nvPr>
        </p:nvGraphicFramePr>
        <p:xfrm>
          <a:off x="2166938" y="5218113"/>
          <a:ext cx="322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14" imgW="3225600" imgH="253800" progId="Equation.DSMT4">
                  <p:embed/>
                </p:oleObj>
              </mc:Choice>
              <mc:Fallback>
                <p:oleObj name="Equation" r:id="rId14" imgW="322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6938" y="5218113"/>
                        <a:ext cx="322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01539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8397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889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8601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655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8601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794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8806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551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9011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323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9216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579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9421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189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9625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92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9830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5959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035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290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240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4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445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8484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649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096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0854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437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1059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9815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1469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0762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2288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1996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2493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2869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2697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4869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2902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6948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3312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1667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3517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5923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3721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837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3926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5027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131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2129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336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6291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541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369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7459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7578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49507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3640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5155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9539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5360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9519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53603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0245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26012" cy="36925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4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15565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1169988" y="5086350"/>
            <a:ext cx="5199062" cy="40798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89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4"/>
            </a:lvl1pPr>
            <a:lvl2pPr marL="378013" indent="0" algn="ctr">
              <a:buNone/>
              <a:defRPr sz="1654"/>
            </a:lvl2pPr>
            <a:lvl3pPr marL="756026" indent="0" algn="ctr">
              <a:buNone/>
              <a:defRPr sz="1488"/>
            </a:lvl3pPr>
            <a:lvl4pPr marL="1134039" indent="0" algn="ctr">
              <a:buNone/>
              <a:defRPr sz="1323"/>
            </a:lvl4pPr>
            <a:lvl5pPr marL="1512052" indent="0" algn="ctr">
              <a:buNone/>
              <a:defRPr sz="1323"/>
            </a:lvl5pPr>
            <a:lvl6pPr marL="1890065" indent="0" algn="ctr">
              <a:buNone/>
              <a:defRPr sz="1323"/>
            </a:lvl6pPr>
            <a:lvl7pPr marL="2268078" indent="0" algn="ctr">
              <a:buNone/>
              <a:defRPr sz="1323"/>
            </a:lvl7pPr>
            <a:lvl8pPr marL="2646091" indent="0" algn="ctr">
              <a:buNone/>
              <a:defRPr sz="1323"/>
            </a:lvl8pPr>
            <a:lvl9pPr marL="3024104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0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2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5059034"/>
            <a:ext cx="8694539" cy="1653678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1pPr>
            <a:lvl2pPr marL="378013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026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03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0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06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07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09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10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6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2012414"/>
            <a:ext cx="4284266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2012414"/>
            <a:ext cx="4284266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2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1853171"/>
            <a:ext cx="4264576" cy="908210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2761381"/>
            <a:ext cx="4264576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1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5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1088454"/>
            <a:ext cx="5103316" cy="5372269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4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2267902"/>
            <a:ext cx="3251264" cy="4201570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9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5579" y="1088454"/>
            <a:ext cx="5103316" cy="5372269"/>
          </a:xfrm>
        </p:spPr>
        <p:txBody>
          <a:bodyPr/>
          <a:lstStyle>
            <a:lvl1pPr marL="0" indent="0">
              <a:buNone/>
              <a:defRPr sz="2646"/>
            </a:lvl1pPr>
            <a:lvl2pPr marL="378013" indent="0">
              <a:buNone/>
              <a:defRPr sz="2315"/>
            </a:lvl2pPr>
            <a:lvl3pPr marL="756026" indent="0">
              <a:buNone/>
              <a:defRPr sz="1984"/>
            </a:lvl3pPr>
            <a:lvl4pPr marL="1134039" indent="0">
              <a:buNone/>
              <a:defRPr sz="1654"/>
            </a:lvl4pPr>
            <a:lvl5pPr marL="1512052" indent="0">
              <a:buNone/>
              <a:defRPr sz="1654"/>
            </a:lvl5pPr>
            <a:lvl6pPr marL="1890065" indent="0">
              <a:buNone/>
              <a:defRPr sz="1654"/>
            </a:lvl6pPr>
            <a:lvl7pPr marL="2268078" indent="0">
              <a:buNone/>
              <a:defRPr sz="1654"/>
            </a:lvl7pPr>
            <a:lvl8pPr marL="2646091" indent="0">
              <a:buNone/>
              <a:defRPr sz="1654"/>
            </a:lvl8pPr>
            <a:lvl9pPr marL="3024104" indent="0">
              <a:buNone/>
              <a:defRPr sz="165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2267902"/>
            <a:ext cx="3251264" cy="4201570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3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3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402483"/>
            <a:ext cx="2173635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402483"/>
            <a:ext cx="6394896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363" y="282575"/>
            <a:ext cx="8580437" cy="12334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683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402483"/>
            <a:ext cx="869453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2012414"/>
            <a:ext cx="869453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C208E-96EE-450C-BBBB-E2EBC8A0CBA0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7006699"/>
            <a:ext cx="34022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983E4-35F0-458D-9D1D-548AAE75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9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756026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06" indent="-189006" algn="l" defTabSz="756026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19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5032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058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071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084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097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110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026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039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052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065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078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091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104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2063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SQL</a:t>
            </a:r>
            <a:endParaRPr lang="en-GB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308100" y="1963738"/>
            <a:ext cx="8772525" cy="4937125"/>
          </a:xfrm>
        </p:spPr>
        <p:txBody>
          <a:bodyPr anchor="ctr"/>
          <a:lstStyle/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r>
              <a:rPr lang="en-GB" sz="2400" dirty="0">
                <a:solidFill>
                  <a:srgbClr val="CCCCCC"/>
                </a:solidFill>
              </a:rPr>
              <a:t>		</a:t>
            </a:r>
          </a:p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endParaRPr lang="en-GB" sz="2400" dirty="0">
              <a:solidFill>
                <a:srgbClr val="CCCCCC"/>
              </a:solidFill>
            </a:endParaRPr>
          </a:p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endParaRPr lang="en-GB" sz="2400" dirty="0">
              <a:solidFill>
                <a:srgbClr val="CCCCCC"/>
              </a:solidFill>
            </a:endParaRPr>
          </a:p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endParaRPr lang="en-GB" sz="2400" dirty="0">
              <a:solidFill>
                <a:srgbClr val="CCCCCC"/>
              </a:solidFill>
            </a:endParaRPr>
          </a:p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endParaRPr lang="en-GB" sz="2400" dirty="0">
              <a:solidFill>
                <a:srgbClr val="CCCCCC"/>
              </a:solidFill>
            </a:endParaRPr>
          </a:p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endParaRPr lang="en-GB" sz="2400" dirty="0">
              <a:solidFill>
                <a:srgbClr val="CCCCCC"/>
              </a:solidFill>
            </a:endParaRPr>
          </a:p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r>
              <a:rPr lang="en-GB" sz="2400" dirty="0">
                <a:solidFill>
                  <a:srgbClr val="CCCCCC"/>
                </a:solidFill>
              </a:rPr>
              <a:t>			</a:t>
            </a:r>
            <a:r>
              <a:rPr lang="en-GB" sz="2400">
                <a:solidFill>
                  <a:srgbClr val="CCCCCC"/>
                </a:solidFill>
              </a:rPr>
              <a:t>	TS</a:t>
            </a:r>
            <a:r>
              <a:rPr lang="en-GB" sz="2400" dirty="0">
                <a:solidFill>
                  <a:srgbClr val="CCCCCC"/>
                </a:solidFill>
              </a:rPr>
              <a:t>. </a:t>
            </a:r>
            <a:r>
              <a:rPr lang="en-GB" sz="2400" dirty="0" err="1">
                <a:solidFill>
                  <a:srgbClr val="CCCCCC"/>
                </a:solidFill>
              </a:rPr>
              <a:t>Nguyễn</a:t>
            </a:r>
            <a:r>
              <a:rPr lang="en-GB" sz="2400" dirty="0">
                <a:solidFill>
                  <a:srgbClr val="CCCCCC"/>
                </a:solidFill>
              </a:rPr>
              <a:t> </a:t>
            </a:r>
            <a:r>
              <a:rPr lang="en-GB" sz="2400" dirty="0" err="1">
                <a:solidFill>
                  <a:srgbClr val="CCCCCC"/>
                </a:solidFill>
              </a:rPr>
              <a:t>Quốc</a:t>
            </a:r>
            <a:r>
              <a:rPr lang="en-GB" sz="2400" dirty="0">
                <a:solidFill>
                  <a:srgbClr val="CCCCCC"/>
                </a:solidFill>
              </a:rPr>
              <a:t> </a:t>
            </a:r>
            <a:r>
              <a:rPr lang="en-GB" sz="2400" dirty="0" err="1">
                <a:solidFill>
                  <a:srgbClr val="CCCCCC"/>
                </a:solidFill>
              </a:rPr>
              <a:t>Tuấn</a:t>
            </a:r>
            <a:endParaRPr lang="en-GB" sz="2400" dirty="0">
              <a:solidFill>
                <a:srgbClr val="CCCCCC"/>
              </a:solidFill>
            </a:endParaRPr>
          </a:p>
          <a:p>
            <a:pPr marL="427038" lvl="1" indent="-215900" algn="ctr" eaLnBrk="1">
              <a:lnSpc>
                <a:spcPct val="95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27038" algn="l"/>
                <a:tab pos="1144588" algn="l"/>
                <a:tab pos="1868488" algn="l"/>
                <a:tab pos="2592388" algn="l"/>
                <a:tab pos="3316288" algn="l"/>
                <a:tab pos="4040188" algn="l"/>
                <a:tab pos="4770438" algn="l"/>
                <a:tab pos="5487988" algn="l"/>
                <a:tab pos="6211888" algn="l"/>
                <a:tab pos="6935788" algn="l"/>
                <a:tab pos="7659688" algn="l"/>
                <a:tab pos="8383588" algn="l"/>
                <a:tab pos="9113838" algn="l"/>
                <a:tab pos="9405938" algn="l"/>
                <a:tab pos="9855200" algn="l"/>
                <a:tab pos="10304463" algn="l"/>
                <a:tab pos="10753725" algn="l"/>
                <a:tab pos="11206163" algn="l"/>
              </a:tabLst>
            </a:pPr>
            <a:r>
              <a:rPr lang="en-GB" sz="2400" dirty="0">
                <a:solidFill>
                  <a:srgbClr val="CCCCCC"/>
                </a:solidFill>
              </a:rPr>
              <a:t>				  Bm. </a:t>
            </a:r>
            <a:r>
              <a:rPr lang="en-GB" sz="2400" dirty="0" err="1">
                <a:solidFill>
                  <a:srgbClr val="CCCCCC"/>
                </a:solidFill>
              </a:rPr>
              <a:t>Mạng</a:t>
            </a:r>
            <a:r>
              <a:rPr lang="en-GB" sz="2400" dirty="0">
                <a:solidFill>
                  <a:srgbClr val="CCCCCC"/>
                </a:solidFill>
              </a:rPr>
              <a:t> </a:t>
            </a:r>
            <a:r>
              <a:rPr lang="en-GB" sz="2400" dirty="0" err="1">
                <a:solidFill>
                  <a:srgbClr val="CCCCCC"/>
                </a:solidFill>
              </a:rPr>
              <a:t>và</a:t>
            </a:r>
            <a:r>
              <a:rPr lang="en-GB" sz="2400" dirty="0">
                <a:solidFill>
                  <a:srgbClr val="CCCCCC"/>
                </a:solidFill>
              </a:rPr>
              <a:t> </a:t>
            </a:r>
            <a:r>
              <a:rPr lang="en-GB" sz="2400" dirty="0" err="1">
                <a:solidFill>
                  <a:srgbClr val="CCCCCC"/>
                </a:solidFill>
              </a:rPr>
              <a:t>Các</a:t>
            </a:r>
            <a:r>
              <a:rPr lang="en-GB" sz="2400" dirty="0">
                <a:solidFill>
                  <a:srgbClr val="CCCCCC"/>
                </a:solidFill>
              </a:rPr>
              <a:t> HTTT</a:t>
            </a:r>
          </a:p>
        </p:txBody>
      </p:sp>
      <p:sp>
        <p:nvSpPr>
          <p:cNvPr id="2" name="Rectangle 1"/>
          <p:cNvSpPr/>
          <p:nvPr/>
        </p:nvSpPr>
        <p:spPr>
          <a:xfrm>
            <a:off x="2520950" y="3364340"/>
            <a:ext cx="5038725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/>
              <a:t>https://www.microsoft.com/en-us/download/details.aspx?id=42299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SQL</a:t>
            </a:r>
          </a:p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SQL Server</a:t>
            </a:r>
          </a:p>
          <a:p>
            <a:r>
              <a:rPr lang="en-US" dirty="0"/>
              <a:t>T-SQL</a:t>
            </a:r>
          </a:p>
        </p:txBody>
      </p:sp>
    </p:spTree>
    <p:extLst>
      <p:ext uri="{BB962C8B-B14F-4D97-AF65-F5344CB8AC3E}">
        <p14:creationId xmlns:p14="http://schemas.microsoft.com/office/powerpoint/2010/main" val="349001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SQL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507047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SQL – Structured Query Language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Chức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SQL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endParaRPr lang="en-GB" dirty="0"/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xuất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thao</a:t>
            </a:r>
            <a:r>
              <a:rPr lang="en-GB" dirty="0"/>
              <a:t> </a:t>
            </a:r>
            <a:r>
              <a:rPr lang="en-GB" dirty="0" err="1"/>
              <a:t>tác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endParaRPr lang="en-GB" dirty="0"/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khiển</a:t>
            </a: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cập</a:t>
            </a:r>
            <a:endParaRPr lang="en-GB" dirty="0"/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Đảm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toàn</a:t>
            </a:r>
            <a:r>
              <a:rPr lang="en-GB" dirty="0"/>
              <a:t> </a:t>
            </a:r>
            <a:r>
              <a:rPr lang="en-GB" dirty="0" err="1"/>
              <a:t>vẹn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endParaRPr lang="en-GB" dirty="0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Vai</a:t>
            </a:r>
            <a:r>
              <a:rPr lang="en-GB" dirty="0"/>
              <a:t> </a:t>
            </a:r>
            <a:r>
              <a:rPr lang="en-GB" dirty="0" err="1"/>
              <a:t>trò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SQL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hỏi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tương</a:t>
            </a:r>
            <a:r>
              <a:rPr lang="en-GB" dirty="0"/>
              <a:t> </a:t>
            </a:r>
            <a:r>
              <a:rPr lang="en-GB" dirty="0" err="1"/>
              <a:t>tác</a:t>
            </a:r>
            <a:endParaRPr lang="en-GB" dirty="0"/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CSDL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quản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CSDL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Client/Server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cập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trên</a:t>
            </a:r>
            <a:r>
              <a:rPr lang="en-GB" dirty="0"/>
              <a:t> Web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Câu lệnh SQL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5094287"/>
          </a:xfrm>
        </p:spPr>
        <p:txBody>
          <a:bodyPr/>
          <a:lstStyle/>
          <a:p>
            <a:pPr eaLnBrk="1">
              <a:lnSpc>
                <a:spcPct val="95000"/>
              </a:lnSpc>
              <a:buSzPct val="100000"/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SQL chuẩn bao gồm khoảng 40 câu lệnh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Cú pháp chi tiết một số câu lệnh có thể thay đổi tùy vào HQTCSDL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dụ: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Định nghĩa dữ liệu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CREATE TABLE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DROP TABLE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ALTER TABLE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Thao tác dữ liệu: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SELECT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INSERT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UPDATE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DELETE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Câu lệnh SQL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5070475"/>
          </a:xfrm>
        </p:spPr>
        <p:txBody>
          <a:bodyPr/>
          <a:lstStyle/>
          <a:p>
            <a:pPr lvl="1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khiển</a:t>
            </a: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cập</a:t>
            </a:r>
            <a:endParaRPr lang="en-GB" dirty="0"/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GRANT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REVOKE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DENY</a:t>
            </a:r>
          </a:p>
          <a:p>
            <a:pPr lvl="1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trình</a:t>
            </a:r>
            <a:endParaRPr lang="en-GB" dirty="0"/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DECLARE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OPEN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FETCH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EXECUTE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CLOSE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DELETE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Kiểu dữ liệu trong SQL</a:t>
            </a:r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1371600"/>
            <a:ext cx="7683500" cy="559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Kiểu dữ liệu trong SQL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71600"/>
            <a:ext cx="741045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Nội dung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493712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Tổng</a:t>
            </a:r>
            <a:r>
              <a:rPr lang="en-GB" dirty="0"/>
              <a:t> </a:t>
            </a:r>
            <a:r>
              <a:rPr lang="en-GB" dirty="0" err="1"/>
              <a:t>quan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SQL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thiệu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SQL Server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T-SQL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Giới thiệu SQL Server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9088437" cy="493712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SQL Server 7.0, 2000, 2003, 2005, 2007, 2008, 2012, 2014, 2016, 2017, 2019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SQL Server 2019: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HQT CSDL </a:t>
            </a:r>
            <a:r>
              <a:rPr lang="en-GB" dirty="0" err="1"/>
              <a:t>quan</a:t>
            </a:r>
            <a:r>
              <a:rPr lang="en-GB" dirty="0"/>
              <a:t> </a:t>
            </a:r>
            <a:r>
              <a:rPr lang="en-GB" dirty="0" err="1"/>
              <a:t>hệ</a:t>
            </a:r>
            <a:endParaRPr lang="en-GB" dirty="0"/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Transact-SQL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trao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Client/Server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phiên</a:t>
            </a:r>
            <a:r>
              <a:rPr lang="en-GB" dirty="0"/>
              <a:t> </a:t>
            </a:r>
            <a:r>
              <a:rPr lang="en-GB" dirty="0" err="1"/>
              <a:t>bản</a:t>
            </a:r>
            <a:r>
              <a:rPr lang="en-GB" dirty="0"/>
              <a:t>: 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Express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Standard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Business Intelligence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Enterprise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Giới thiệu SQL Server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859837" cy="4937125"/>
          </a:xfrm>
        </p:spPr>
        <p:txBody>
          <a:bodyPr/>
          <a:lstStyle/>
          <a:p>
            <a:pPr lvl="1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SQL Server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Multi-Instance: Default Instance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 err="1"/>
              <a:t>Mỗi</a:t>
            </a:r>
            <a:r>
              <a:rPr lang="en-GB" dirty="0"/>
              <a:t> Instance </a:t>
            </a:r>
            <a:r>
              <a:rPr lang="en-GB" dirty="0" err="1"/>
              <a:t>gồm</a:t>
            </a:r>
            <a:r>
              <a:rPr lang="en-GB" dirty="0"/>
              <a:t> 4 system databases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users database</a:t>
            </a:r>
          </a:p>
          <a:p>
            <a:pPr lvl="3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Master, </a:t>
            </a:r>
            <a:r>
              <a:rPr lang="en-GB" dirty="0" err="1"/>
              <a:t>Tempdb</a:t>
            </a:r>
            <a:r>
              <a:rPr lang="en-GB" dirty="0"/>
              <a:t>, Model, </a:t>
            </a:r>
            <a:r>
              <a:rPr lang="en-GB" dirty="0" err="1"/>
              <a:t>Msdb</a:t>
            </a:r>
            <a:endParaRPr lang="en-GB" dirty="0"/>
          </a:p>
          <a:p>
            <a:pPr lvl="1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vật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1 SQL Server</a:t>
            </a:r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Primary data file (.</a:t>
            </a:r>
            <a:r>
              <a:rPr lang="en-GB" dirty="0" err="1"/>
              <a:t>mdf</a:t>
            </a:r>
            <a:r>
              <a:rPr lang="en-GB" dirty="0"/>
              <a:t>)</a:t>
            </a:r>
            <a:r>
              <a:rPr lang="ar-SA" dirty="0"/>
              <a:t>‏</a:t>
            </a:r>
            <a:endParaRPr lang="en-GB" dirty="0"/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Secondary data file (.</a:t>
            </a:r>
            <a:r>
              <a:rPr lang="en-GB" dirty="0" err="1"/>
              <a:t>ndf</a:t>
            </a:r>
            <a:r>
              <a:rPr lang="en-GB" dirty="0"/>
              <a:t>)</a:t>
            </a:r>
            <a:r>
              <a:rPr lang="ar-SA" dirty="0"/>
              <a:t>‏</a:t>
            </a:r>
            <a:endParaRPr lang="en-GB" dirty="0"/>
          </a:p>
          <a:p>
            <a:pPr lvl="2" eaLnBrk="1">
              <a:lnSpc>
                <a:spcPct val="95000"/>
              </a:lnSpc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dirty="0"/>
              <a:t>Transaction log file (.</a:t>
            </a:r>
            <a:r>
              <a:rPr lang="en-GB" dirty="0" err="1"/>
              <a:t>ldf</a:t>
            </a:r>
            <a:r>
              <a:rPr lang="en-GB" dirty="0"/>
              <a:t>)</a:t>
            </a:r>
            <a:r>
              <a:rPr lang="ar-SA" dirty="0"/>
              <a:t>‏</a:t>
            </a:r>
            <a:endParaRPr lang="en-GB" dirty="0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575" y="3886200"/>
            <a:ext cx="482282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Giới thiệu SQL Server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25105" b="18252"/>
          <a:stretch/>
        </p:blipFill>
        <p:spPr>
          <a:xfrm>
            <a:off x="816769" y="1532391"/>
            <a:ext cx="8458200" cy="521477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Nội dung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493712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Tổng</a:t>
            </a:r>
            <a:r>
              <a:rPr lang="en-GB" dirty="0"/>
              <a:t> </a:t>
            </a:r>
            <a:r>
              <a:rPr lang="en-GB" dirty="0" err="1"/>
              <a:t>quan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SQL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thiệu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SQL Server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T-SQL</a:t>
            </a:r>
          </a:p>
        </p:txBody>
      </p:sp>
    </p:spTree>
    <p:extLst>
      <p:ext uri="{BB962C8B-B14F-4D97-AF65-F5344CB8AC3E}">
        <p14:creationId xmlns:p14="http://schemas.microsoft.com/office/powerpoint/2010/main" val="3096514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T-SQL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493712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thiệu</a:t>
            </a:r>
            <a:r>
              <a:rPr lang="en-GB" dirty="0"/>
              <a:t> T-SQL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(DDL)</a:t>
            </a:r>
            <a:r>
              <a:rPr lang="ar-SA" dirty="0"/>
              <a:t>‏</a:t>
            </a:r>
            <a:endParaRPr lang="en-GB" dirty="0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thao</a:t>
            </a:r>
            <a:r>
              <a:rPr lang="en-GB" dirty="0"/>
              <a:t> </a:t>
            </a:r>
            <a:r>
              <a:rPr lang="en-GB" dirty="0" err="1"/>
              <a:t>tác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(DML)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T-SQL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507047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Transact-SQL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mở</a:t>
            </a:r>
            <a:r>
              <a:rPr lang="en-GB" dirty="0"/>
              <a:t> </a:t>
            </a:r>
            <a:r>
              <a:rPr lang="en-GB" dirty="0" err="1"/>
              <a:t>rộng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SQL </a:t>
            </a:r>
            <a:r>
              <a:rPr lang="en-GB" dirty="0" err="1"/>
              <a:t>chuẩn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ISO </a:t>
            </a:r>
            <a:r>
              <a:rPr lang="en-GB" dirty="0" err="1"/>
              <a:t>và</a:t>
            </a:r>
            <a:r>
              <a:rPr lang="en-GB" dirty="0"/>
              <a:t> ANSI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Khác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P-SQL(Procedural - SQL)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Oracle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/>
              <a:t>Ngôn ngữ định nghĩa dữ liệu	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493712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DDL – Data Definition Language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Gồm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đối</a:t>
            </a:r>
            <a:r>
              <a:rPr lang="en-GB" dirty="0"/>
              <a:t> </a:t>
            </a:r>
            <a:r>
              <a:rPr lang="en-GB" dirty="0" err="1"/>
              <a:t>tượng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CSDL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CREATE </a:t>
            </a:r>
            <a:r>
              <a:rPr lang="en-GB" dirty="0" err="1"/>
              <a:t>object_Name</a:t>
            </a:r>
            <a:endParaRPr lang="en-GB" dirty="0"/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ALTER 	</a:t>
            </a:r>
            <a:r>
              <a:rPr lang="en-GB" dirty="0" err="1"/>
              <a:t>object_Name</a:t>
            </a:r>
            <a:endParaRPr lang="en-GB" dirty="0"/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DROP 	</a:t>
            </a:r>
            <a:r>
              <a:rPr lang="en-GB" dirty="0" err="1"/>
              <a:t>object_Name</a:t>
            </a:r>
            <a:endParaRPr lang="en-GB" dirty="0"/>
          </a:p>
          <a:p>
            <a:pPr lvl="1" eaLnBrk="1">
              <a:lnSpc>
                <a:spcPct val="86000"/>
              </a:lnSpc>
              <a:buFont typeface="Symbol" panose="05050102010706020507" pitchFamily="18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 eaLnBrk="1">
              <a:lnSpc>
                <a:spcPct val="86000"/>
              </a:lnSpc>
              <a:buFont typeface="Symbol" panose="05050102010706020507" pitchFamily="18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object_Name</a:t>
            </a:r>
            <a:r>
              <a:rPr lang="en-GB" i="1" dirty="0"/>
              <a:t>: table, view, stored procedure, indexes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949325"/>
            <a:ext cx="8604250" cy="1169988"/>
          </a:xfrm>
        </p:spPr>
        <p:txBody>
          <a:bodyPr/>
          <a:lstStyle/>
          <a:p>
            <a:pPr eaLnBrk="1"/>
            <a:endParaRPr lang="en-US" dirty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7762" cy="4843462"/>
          </a:xfrm>
        </p:spPr>
        <p:txBody>
          <a:bodyPr/>
          <a:lstStyle/>
          <a:p>
            <a:pPr eaLnBrk="1"/>
            <a:endParaRPr lang="en-US"/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57400"/>
            <a:ext cx="84582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/>
              <a:t>Tạo, xóa CSDL 	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495425"/>
            <a:ext cx="8772525" cy="5938838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Tạo</a:t>
            </a:r>
            <a:r>
              <a:rPr lang="en-GB" i="1" dirty="0"/>
              <a:t> </a:t>
            </a:r>
            <a:r>
              <a:rPr lang="en-GB" i="1" dirty="0" err="1"/>
              <a:t>Cơ</a:t>
            </a:r>
            <a:r>
              <a:rPr lang="en-GB" i="1" dirty="0"/>
              <a:t> </a:t>
            </a:r>
            <a:r>
              <a:rPr lang="en-GB" i="1" dirty="0" err="1"/>
              <a:t>sở</a:t>
            </a:r>
            <a:r>
              <a:rPr lang="en-GB" i="1" dirty="0"/>
              <a:t> </a:t>
            </a:r>
            <a:r>
              <a:rPr lang="en-GB" i="1" dirty="0" err="1"/>
              <a:t>dữ</a:t>
            </a:r>
            <a:r>
              <a:rPr lang="en-GB" i="1" dirty="0"/>
              <a:t> </a:t>
            </a:r>
            <a:r>
              <a:rPr lang="en-GB" i="1" dirty="0" err="1"/>
              <a:t>liệu</a:t>
            </a:r>
            <a:endParaRPr lang="en-GB" i="1" dirty="0"/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Cú</a:t>
            </a:r>
            <a:r>
              <a:rPr lang="en-GB" i="1" dirty="0"/>
              <a:t> </a:t>
            </a:r>
            <a:r>
              <a:rPr lang="en-GB" i="1" dirty="0" err="1"/>
              <a:t>pháp</a:t>
            </a:r>
            <a:endParaRPr lang="en-GB" i="1" dirty="0"/>
          </a:p>
          <a:p>
            <a:pPr lvl="2" eaLnBrk="1">
              <a:lnSpc>
                <a:spcPct val="86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CREATE DATABASE &lt;</a:t>
            </a:r>
            <a:r>
              <a:rPr lang="en-GB" dirty="0" err="1"/>
              <a:t>Tên</a:t>
            </a:r>
            <a:r>
              <a:rPr lang="en-GB" dirty="0"/>
              <a:t> </a:t>
            </a:r>
            <a:r>
              <a:rPr lang="en-GB" dirty="0" err="1"/>
              <a:t>cơ</a:t>
            </a:r>
            <a:r>
              <a:rPr lang="en-GB" dirty="0"/>
              <a:t> </a:t>
            </a:r>
            <a:r>
              <a:rPr lang="en-GB" dirty="0" err="1"/>
              <a:t>sở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&gt; [;]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Ví</a:t>
            </a:r>
            <a:r>
              <a:rPr lang="en-GB" i="1" dirty="0"/>
              <a:t> </a:t>
            </a:r>
            <a:r>
              <a:rPr lang="en-GB" i="1" dirty="0" err="1"/>
              <a:t>dụ</a:t>
            </a:r>
            <a:endParaRPr lang="en-GB" i="1" dirty="0"/>
          </a:p>
          <a:p>
            <a:pPr lvl="2" eaLnBrk="1">
              <a:lnSpc>
                <a:spcPct val="86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/>
              <a:t>CREATE DATABASE </a:t>
            </a:r>
            <a:r>
              <a:rPr lang="en-GB" i="1" dirty="0" err="1"/>
              <a:t>QuanlyDiem</a:t>
            </a:r>
            <a:r>
              <a:rPr lang="en-GB" i="1" dirty="0"/>
              <a:t>;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Sử</a:t>
            </a:r>
            <a:r>
              <a:rPr lang="en-GB" i="1" dirty="0"/>
              <a:t> </a:t>
            </a:r>
            <a:r>
              <a:rPr lang="en-GB" i="1" dirty="0" err="1"/>
              <a:t>dụng</a:t>
            </a:r>
            <a:r>
              <a:rPr lang="en-GB" i="1" dirty="0"/>
              <a:t> </a:t>
            </a:r>
            <a:r>
              <a:rPr lang="en-GB" i="1" dirty="0" err="1"/>
              <a:t>Cơ</a:t>
            </a:r>
            <a:r>
              <a:rPr lang="en-GB" i="1" dirty="0"/>
              <a:t> </a:t>
            </a:r>
            <a:r>
              <a:rPr lang="en-GB" i="1" dirty="0" err="1"/>
              <a:t>sở</a:t>
            </a:r>
            <a:r>
              <a:rPr lang="en-GB" i="1" dirty="0"/>
              <a:t> </a:t>
            </a:r>
            <a:r>
              <a:rPr lang="en-GB" i="1" dirty="0" err="1"/>
              <a:t>dữ</a:t>
            </a:r>
            <a:r>
              <a:rPr lang="en-GB" i="1" dirty="0"/>
              <a:t> </a:t>
            </a:r>
            <a:r>
              <a:rPr lang="en-GB" i="1" dirty="0" err="1"/>
              <a:t>liệu</a:t>
            </a:r>
            <a:endParaRPr lang="en-GB" i="1" dirty="0"/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Cú</a:t>
            </a:r>
            <a:r>
              <a:rPr lang="en-GB" i="1" dirty="0"/>
              <a:t> </a:t>
            </a:r>
            <a:r>
              <a:rPr lang="en-GB" i="1" dirty="0" err="1"/>
              <a:t>pháp</a:t>
            </a:r>
            <a:endParaRPr lang="en-GB" i="1" dirty="0"/>
          </a:p>
          <a:p>
            <a:pPr lvl="2" eaLnBrk="1">
              <a:lnSpc>
                <a:spcPct val="86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USE  &lt;</a:t>
            </a:r>
            <a:r>
              <a:rPr lang="en-GB" dirty="0" err="1"/>
              <a:t>Tên</a:t>
            </a:r>
            <a:r>
              <a:rPr lang="en-GB" dirty="0"/>
              <a:t> </a:t>
            </a:r>
            <a:r>
              <a:rPr lang="en-GB" dirty="0" err="1"/>
              <a:t>cơ</a:t>
            </a:r>
            <a:r>
              <a:rPr lang="en-GB" dirty="0"/>
              <a:t> </a:t>
            </a:r>
            <a:r>
              <a:rPr lang="en-GB" dirty="0" err="1"/>
              <a:t>sở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&gt;;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Ví</a:t>
            </a:r>
            <a:r>
              <a:rPr lang="en-GB" i="1" dirty="0"/>
              <a:t> </a:t>
            </a:r>
            <a:r>
              <a:rPr lang="en-GB" i="1" dirty="0" err="1"/>
              <a:t>dụ</a:t>
            </a:r>
            <a:endParaRPr lang="en-GB" i="1" dirty="0"/>
          </a:p>
          <a:p>
            <a:pPr lvl="2" eaLnBrk="1">
              <a:lnSpc>
                <a:spcPct val="86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/>
              <a:t>USE </a:t>
            </a:r>
            <a:r>
              <a:rPr lang="en-GB" i="1" dirty="0" err="1"/>
              <a:t>QuanlyDiem</a:t>
            </a:r>
            <a:r>
              <a:rPr lang="en-GB" i="1" dirty="0"/>
              <a:t>;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Xóa</a:t>
            </a:r>
            <a:r>
              <a:rPr lang="en-GB" i="1" dirty="0"/>
              <a:t> </a:t>
            </a:r>
            <a:r>
              <a:rPr lang="en-GB" i="1" dirty="0" err="1"/>
              <a:t>Cơ</a:t>
            </a:r>
            <a:r>
              <a:rPr lang="en-GB" i="1" dirty="0"/>
              <a:t> </a:t>
            </a:r>
            <a:r>
              <a:rPr lang="en-GB" i="1" dirty="0" err="1"/>
              <a:t>sở</a:t>
            </a:r>
            <a:r>
              <a:rPr lang="en-GB" i="1" dirty="0"/>
              <a:t> </a:t>
            </a:r>
            <a:r>
              <a:rPr lang="en-GB" i="1" dirty="0" err="1"/>
              <a:t>dữ</a:t>
            </a:r>
            <a:r>
              <a:rPr lang="en-GB" i="1" dirty="0"/>
              <a:t> </a:t>
            </a:r>
            <a:r>
              <a:rPr lang="en-GB" i="1" dirty="0" err="1"/>
              <a:t>liệu</a:t>
            </a:r>
            <a:endParaRPr lang="en-GB" i="1" dirty="0"/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Cú</a:t>
            </a:r>
            <a:r>
              <a:rPr lang="en-GB" i="1" dirty="0"/>
              <a:t> </a:t>
            </a:r>
            <a:r>
              <a:rPr lang="en-GB" i="1" dirty="0" err="1"/>
              <a:t>pháp</a:t>
            </a:r>
            <a:endParaRPr lang="en-GB" i="1" dirty="0"/>
          </a:p>
          <a:p>
            <a:pPr lvl="2" eaLnBrk="1">
              <a:lnSpc>
                <a:spcPct val="86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DROP DATABASE &lt;</a:t>
            </a:r>
            <a:r>
              <a:rPr lang="en-GB" dirty="0" err="1"/>
              <a:t>Tên</a:t>
            </a:r>
            <a:r>
              <a:rPr lang="en-GB" dirty="0"/>
              <a:t> </a:t>
            </a:r>
            <a:r>
              <a:rPr lang="en-GB" dirty="0" err="1"/>
              <a:t>cơ</a:t>
            </a:r>
            <a:r>
              <a:rPr lang="en-GB" dirty="0"/>
              <a:t> </a:t>
            </a:r>
            <a:r>
              <a:rPr lang="en-GB" dirty="0" err="1"/>
              <a:t>sở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&gt;;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Ví</a:t>
            </a:r>
            <a:r>
              <a:rPr lang="en-GB" i="1" dirty="0"/>
              <a:t> </a:t>
            </a:r>
            <a:r>
              <a:rPr lang="en-GB" i="1" dirty="0" err="1"/>
              <a:t>dụ</a:t>
            </a:r>
            <a:endParaRPr lang="en-GB" i="1" dirty="0"/>
          </a:p>
          <a:p>
            <a:pPr lvl="2" eaLnBrk="1">
              <a:lnSpc>
                <a:spcPct val="86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/>
              <a:t>DROP DATABASE </a:t>
            </a:r>
            <a:r>
              <a:rPr lang="en-GB" i="1" dirty="0" err="1"/>
              <a:t>QuanlyDiem</a:t>
            </a:r>
            <a:r>
              <a:rPr lang="en-GB" i="1" dirty="0"/>
              <a:t>;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Tạo bảng - CREATE TABLE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493712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Cú pháp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Ví dụ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12" y="2484437"/>
            <a:ext cx="6953250" cy="2076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3886E8-E073-423F-9400-B8B8E8D37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712" y="4962525"/>
            <a:ext cx="7162800" cy="23145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CREATE TABLE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371600"/>
            <a:ext cx="8772525" cy="5529263"/>
          </a:xfrm>
        </p:spPr>
        <p:txBody>
          <a:bodyPr/>
          <a:lstStyle/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Ràng buộc PRIMARY KEY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Cú pháp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Ví dụ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</p:txBody>
      </p:sp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14600"/>
            <a:ext cx="6400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2D1FBC-445B-46D1-863D-6100DA71A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1" y="4376738"/>
            <a:ext cx="5210175" cy="2524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330F9-E249-4052-8023-081A76857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700" y="4283075"/>
            <a:ext cx="4733925" cy="1905000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1E8F14F0-6EA3-FF0B-1BAE-DC2C7CB0F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025" y="56480"/>
            <a:ext cx="5421312" cy="219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CREATE TABLE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371600"/>
            <a:ext cx="8772525" cy="5529263"/>
          </a:xfrm>
        </p:spPr>
        <p:txBody>
          <a:bodyPr/>
          <a:lstStyle/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Ràng buộc FOREIGN KEY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Cú pháp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Ví dụ: Tạo bảng Điểm thi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309813"/>
            <a:ext cx="8001000" cy="157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0C8E477E-9592-EE41-5956-0EA29304E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568" y="4313237"/>
            <a:ext cx="8007881" cy="324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CREATE TABLE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371600"/>
            <a:ext cx="8772525" cy="5529263"/>
          </a:xfrm>
        </p:spPr>
        <p:txBody>
          <a:bodyPr/>
          <a:lstStyle/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Ràng buộc FOREIGN KEY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2004E8-DAE4-4D63-B3CC-6BF1BA25A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74" y="1919810"/>
            <a:ext cx="6619875" cy="42481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CREATE TABLE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371600"/>
            <a:ext cx="8772525" cy="5529263"/>
          </a:xfrm>
        </p:spPr>
        <p:txBody>
          <a:bodyPr/>
          <a:lstStyle/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Ràng buộc UNIQUE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Cú pháp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Ví dụ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3" y="2514600"/>
            <a:ext cx="435133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A8F538-58BC-490C-BAFD-52750303C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424" y="3932237"/>
            <a:ext cx="5057775" cy="28098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CREATE TABLE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371600"/>
            <a:ext cx="8772525" cy="5529263"/>
          </a:xfrm>
        </p:spPr>
        <p:txBody>
          <a:bodyPr/>
          <a:lstStyle/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Ràng buộc DEFAULT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Cú pháp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Ví dụ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533650"/>
            <a:ext cx="3886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19CD24-9752-49FE-9FA7-5573D6599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024" y="4182574"/>
            <a:ext cx="5362575" cy="15811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CREATE TABLE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371600"/>
            <a:ext cx="8772525" cy="5529263"/>
          </a:xfrm>
        </p:spPr>
        <p:txBody>
          <a:bodyPr/>
          <a:lstStyle/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Ràng buộc CHECK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Cú pháp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/>
              <a:t>Ví dụ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/>
          </a:p>
        </p:txBody>
      </p:sp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14600"/>
            <a:ext cx="3886200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4254500"/>
            <a:ext cx="6359525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Sửa nội dung bảng- ALTER TABLE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828800"/>
            <a:ext cx="8772525" cy="5072063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Bổ</a:t>
            </a:r>
            <a:r>
              <a:rPr lang="en-GB" i="1" dirty="0"/>
              <a:t> sung </a:t>
            </a:r>
            <a:r>
              <a:rPr lang="en-GB" i="1" dirty="0" err="1"/>
              <a:t>một</a:t>
            </a:r>
            <a:r>
              <a:rPr lang="en-GB" i="1" dirty="0"/>
              <a:t> </a:t>
            </a:r>
            <a:r>
              <a:rPr lang="en-GB" i="1" dirty="0" err="1"/>
              <a:t>cột</a:t>
            </a:r>
            <a:r>
              <a:rPr lang="en-GB" i="1" dirty="0"/>
              <a:t> </a:t>
            </a:r>
            <a:r>
              <a:rPr lang="en-GB" i="1" dirty="0" err="1"/>
              <a:t>vào</a:t>
            </a:r>
            <a:r>
              <a:rPr lang="en-GB" i="1" dirty="0"/>
              <a:t> </a:t>
            </a:r>
            <a:r>
              <a:rPr lang="en-GB" i="1" dirty="0" err="1"/>
              <a:t>bảng</a:t>
            </a:r>
            <a:endParaRPr lang="en-GB" i="1" dirty="0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Xóa</a:t>
            </a:r>
            <a:r>
              <a:rPr lang="en-GB" i="1" dirty="0"/>
              <a:t> </a:t>
            </a:r>
            <a:r>
              <a:rPr lang="en-GB" i="1" dirty="0" err="1"/>
              <a:t>một</a:t>
            </a:r>
            <a:r>
              <a:rPr lang="en-GB" i="1" dirty="0"/>
              <a:t> </a:t>
            </a:r>
            <a:r>
              <a:rPr lang="en-GB" i="1" dirty="0" err="1"/>
              <a:t>cột</a:t>
            </a:r>
            <a:r>
              <a:rPr lang="en-GB" i="1" dirty="0"/>
              <a:t> </a:t>
            </a:r>
            <a:r>
              <a:rPr lang="en-GB" i="1" dirty="0" err="1"/>
              <a:t>khỏi</a:t>
            </a:r>
            <a:r>
              <a:rPr lang="en-GB" i="1" dirty="0"/>
              <a:t> </a:t>
            </a:r>
            <a:r>
              <a:rPr lang="en-GB" i="1" dirty="0" err="1"/>
              <a:t>bảng</a:t>
            </a:r>
            <a:endParaRPr lang="en-GB" i="1" dirty="0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Thay</a:t>
            </a:r>
            <a:r>
              <a:rPr lang="en-GB" i="1" dirty="0"/>
              <a:t> </a:t>
            </a:r>
            <a:r>
              <a:rPr lang="en-GB" i="1" dirty="0" err="1"/>
              <a:t>đổi</a:t>
            </a:r>
            <a:r>
              <a:rPr lang="en-GB" i="1" dirty="0"/>
              <a:t> </a:t>
            </a:r>
            <a:r>
              <a:rPr lang="en-GB" i="1" dirty="0" err="1"/>
              <a:t>định</a:t>
            </a:r>
            <a:r>
              <a:rPr lang="en-GB" i="1" dirty="0"/>
              <a:t> </a:t>
            </a:r>
            <a:r>
              <a:rPr lang="en-GB" i="1" dirty="0" err="1"/>
              <a:t>nghĩa</a:t>
            </a:r>
            <a:r>
              <a:rPr lang="en-GB" i="1" dirty="0"/>
              <a:t> </a:t>
            </a:r>
            <a:r>
              <a:rPr lang="en-GB" i="1" dirty="0" err="1"/>
              <a:t>của</a:t>
            </a:r>
            <a:r>
              <a:rPr lang="en-GB" i="1" dirty="0"/>
              <a:t> </a:t>
            </a:r>
            <a:r>
              <a:rPr lang="en-GB" i="1" dirty="0" err="1"/>
              <a:t>một</a:t>
            </a:r>
            <a:r>
              <a:rPr lang="en-GB" i="1" dirty="0"/>
              <a:t> </a:t>
            </a:r>
            <a:r>
              <a:rPr lang="en-GB" i="1" dirty="0" err="1"/>
              <a:t>cột</a:t>
            </a:r>
            <a:r>
              <a:rPr lang="en-GB" i="1" dirty="0"/>
              <a:t> </a:t>
            </a:r>
            <a:r>
              <a:rPr lang="en-GB" i="1" dirty="0" err="1"/>
              <a:t>trong</a:t>
            </a:r>
            <a:r>
              <a:rPr lang="en-GB" i="1" dirty="0"/>
              <a:t> </a:t>
            </a:r>
            <a:r>
              <a:rPr lang="en-GB" i="1" dirty="0" err="1"/>
              <a:t>bảng</a:t>
            </a:r>
            <a:endParaRPr lang="en-GB" i="1" dirty="0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i="1" dirty="0" err="1"/>
              <a:t>Xóa</a:t>
            </a:r>
            <a:r>
              <a:rPr lang="en-GB" i="1" dirty="0"/>
              <a:t> </a:t>
            </a:r>
            <a:r>
              <a:rPr lang="en-GB" i="1" dirty="0" err="1"/>
              <a:t>hoặc</a:t>
            </a:r>
            <a:r>
              <a:rPr lang="en-GB" i="1" dirty="0"/>
              <a:t> </a:t>
            </a:r>
            <a:r>
              <a:rPr lang="en-GB" i="1" dirty="0" err="1"/>
              <a:t>bổ</a:t>
            </a:r>
            <a:r>
              <a:rPr lang="en-GB" i="1" dirty="0"/>
              <a:t> sung </a:t>
            </a:r>
            <a:r>
              <a:rPr lang="en-GB" i="1" dirty="0" err="1"/>
              <a:t>ràng</a:t>
            </a:r>
            <a:r>
              <a:rPr lang="en-GB" i="1" dirty="0"/>
              <a:t> </a:t>
            </a:r>
            <a:r>
              <a:rPr lang="en-GB" i="1" dirty="0" err="1"/>
              <a:t>buộc</a:t>
            </a:r>
            <a:r>
              <a:rPr lang="en-GB" i="1" dirty="0"/>
              <a:t> </a:t>
            </a:r>
            <a:r>
              <a:rPr lang="en-GB" i="1" dirty="0" err="1"/>
              <a:t>cho</a:t>
            </a:r>
            <a:r>
              <a:rPr lang="en-GB" i="1" dirty="0"/>
              <a:t> </a:t>
            </a:r>
            <a:r>
              <a:rPr lang="en-GB" i="1" dirty="0" err="1" smtClean="0"/>
              <a:t>bảng</a:t>
            </a:r>
            <a:endParaRPr lang="en-GB" i="1" dirty="0" smtClean="0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 dirty="0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ALTER TABLE</a:t>
            </a:r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458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ALTER TABLE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idx="1"/>
          </p:nvPr>
        </p:nvSpPr>
        <p:spPr>
          <a:xfrm>
            <a:off x="740752" y="1341437"/>
            <a:ext cx="8772525" cy="5715000"/>
          </a:xfrm>
        </p:spPr>
        <p:txBody>
          <a:bodyPr>
            <a:normAutofit fontScale="92500" lnSpcReduction="10000"/>
          </a:bodyPr>
          <a:lstStyle/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: Cho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2 </a:t>
            </a:r>
            <a:r>
              <a:rPr lang="en-GB" dirty="0" err="1"/>
              <a:t>bảng</a:t>
            </a:r>
            <a:r>
              <a:rPr lang="en-GB" dirty="0"/>
              <a:t> NHANVIEN </a:t>
            </a:r>
            <a:r>
              <a:rPr lang="en-GB" dirty="0" err="1"/>
              <a:t>và</a:t>
            </a:r>
            <a:r>
              <a:rPr lang="en-GB" dirty="0"/>
              <a:t> DONVI </a:t>
            </a:r>
            <a:r>
              <a:rPr lang="en-GB" dirty="0" err="1"/>
              <a:t>như</a:t>
            </a:r>
            <a:r>
              <a:rPr lang="en-GB" dirty="0"/>
              <a:t> </a:t>
            </a:r>
            <a:r>
              <a:rPr lang="en-GB" dirty="0" err="1"/>
              <a:t>sau</a:t>
            </a: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Bổ</a:t>
            </a:r>
            <a:r>
              <a:rPr lang="en-GB" dirty="0"/>
              <a:t> sung </a:t>
            </a:r>
            <a:r>
              <a:rPr lang="en-GB" dirty="0" err="1"/>
              <a:t>thêm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MADV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kiểu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DIACHI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nhận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NULL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Xóa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</a:t>
            </a:r>
            <a:r>
              <a:rPr lang="en-GB" dirty="0" err="1"/>
              <a:t>ngày</a:t>
            </a:r>
            <a:r>
              <a:rPr lang="en-GB" dirty="0"/>
              <a:t> </a:t>
            </a:r>
            <a:r>
              <a:rPr lang="en-GB" dirty="0" err="1"/>
              <a:t>sinh</a:t>
            </a:r>
            <a:r>
              <a:rPr lang="en-GB" dirty="0"/>
              <a:t> </a:t>
            </a:r>
            <a:r>
              <a:rPr lang="en-GB" dirty="0" err="1"/>
              <a:t>khỏi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khóa</a:t>
            </a:r>
            <a:r>
              <a:rPr lang="en-GB" dirty="0"/>
              <a:t> </a:t>
            </a:r>
            <a:r>
              <a:rPr lang="en-GB" dirty="0" err="1"/>
              <a:t>chính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trường</a:t>
            </a:r>
            <a:r>
              <a:rPr lang="en-GB" dirty="0"/>
              <a:t> MANV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khóa</a:t>
            </a:r>
            <a:r>
              <a:rPr lang="en-GB" dirty="0"/>
              <a:t> </a:t>
            </a:r>
            <a:r>
              <a:rPr lang="en-GB" dirty="0" err="1"/>
              <a:t>ngoài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 </a:t>
            </a:r>
            <a:r>
              <a:rPr lang="en-GB" dirty="0" err="1"/>
              <a:t>trên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MADV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DONVI</a:t>
            </a:r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1BB1-A272-46CC-82AA-B44991A15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212" y="1798637"/>
            <a:ext cx="6181725" cy="1704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ECE8C-C5F8-41AB-8C4A-2C5FB2EDB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016" y="3627437"/>
            <a:ext cx="6162675" cy="14001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ALTER TABLE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828800"/>
            <a:ext cx="8772525" cy="5072063"/>
          </a:xfrm>
        </p:spPr>
        <p:txBody>
          <a:bodyPr/>
          <a:lstStyle/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Bài</a:t>
            </a:r>
            <a:r>
              <a:rPr lang="en-GB" dirty="0"/>
              <a:t> </a:t>
            </a:r>
            <a:r>
              <a:rPr lang="en-GB" dirty="0" err="1"/>
              <a:t>tập</a:t>
            </a:r>
            <a:endParaRPr lang="en-GB" dirty="0"/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Bổ</a:t>
            </a:r>
            <a:r>
              <a:rPr lang="en-GB" dirty="0"/>
              <a:t> sung </a:t>
            </a:r>
            <a:r>
              <a:rPr lang="en-GB" dirty="0" err="1"/>
              <a:t>thêm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MADV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kiểu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DIACHI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nhận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NULL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Xóa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</a:t>
            </a:r>
            <a:r>
              <a:rPr lang="en-GB" dirty="0" err="1"/>
              <a:t>ngày</a:t>
            </a:r>
            <a:r>
              <a:rPr lang="en-GB" dirty="0"/>
              <a:t> </a:t>
            </a:r>
            <a:r>
              <a:rPr lang="en-GB" dirty="0" err="1"/>
              <a:t>sinh</a:t>
            </a:r>
            <a:r>
              <a:rPr lang="en-GB" dirty="0"/>
              <a:t> </a:t>
            </a:r>
            <a:r>
              <a:rPr lang="en-GB" dirty="0" err="1"/>
              <a:t>khỏi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khóa</a:t>
            </a:r>
            <a:r>
              <a:rPr lang="en-GB" dirty="0"/>
              <a:t> </a:t>
            </a:r>
            <a:r>
              <a:rPr lang="en-GB" dirty="0" err="1"/>
              <a:t>chính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trường</a:t>
            </a:r>
            <a:r>
              <a:rPr lang="en-GB" dirty="0"/>
              <a:t> MANV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khóa</a:t>
            </a:r>
            <a:r>
              <a:rPr lang="en-GB" dirty="0"/>
              <a:t> </a:t>
            </a:r>
            <a:r>
              <a:rPr lang="en-GB" dirty="0" err="1"/>
              <a:t>ngoài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NHANVIEN </a:t>
            </a:r>
            <a:r>
              <a:rPr lang="en-GB" dirty="0" err="1"/>
              <a:t>trên</a:t>
            </a:r>
            <a:r>
              <a:rPr lang="en-GB" dirty="0"/>
              <a:t> </a:t>
            </a:r>
            <a:r>
              <a:rPr lang="en-GB" dirty="0" err="1"/>
              <a:t>cột</a:t>
            </a:r>
            <a:r>
              <a:rPr lang="en-GB" dirty="0"/>
              <a:t> MADV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DONVI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ALTER TABLE</a:t>
            </a: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65300"/>
            <a:ext cx="6997700" cy="166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789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657600"/>
            <a:ext cx="35067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7893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5029200"/>
            <a:ext cx="54641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ALTER TABLE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5715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940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562"/>
          <a:stretch/>
        </p:blipFill>
        <p:spPr bwMode="auto">
          <a:xfrm>
            <a:off x="1143000" y="3200400"/>
            <a:ext cx="6629400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Xóa bảng - DROP TABLE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371600"/>
            <a:ext cx="8772525" cy="5529263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Cú pháp</a:t>
            </a:r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i="1"/>
          </a:p>
          <a:p>
            <a:pPr eaLnBrk="1">
              <a:lnSpc>
                <a:spcPct val="95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i="1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i="1"/>
              <a:t>Ghi chú: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Câu lệnh này sẽ xóa các ràng buộc, chỉ mục, trigger liên quan đến bảng cần xóa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Khi xóa bằng lệnh DROP không thể khôi phục lại được</a:t>
            </a:r>
          </a:p>
          <a:p>
            <a:pPr lvl="1"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Không thể thực hiện được nếu vẫn còn ràng buộc về khóa ngoại</a:t>
            </a:r>
          </a:p>
          <a:p>
            <a:pPr eaLnBrk="1">
              <a:lnSpc>
                <a:spcPct val="86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dụ: Xóa bảng DONVI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12" y="1874837"/>
            <a:ext cx="4095750" cy="781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112" y="5978309"/>
            <a:ext cx="2667000" cy="4685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6112" y="4532312"/>
            <a:ext cx="4048125" cy="8477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282575"/>
            <a:ext cx="8609012" cy="1263650"/>
          </a:xfrm>
        </p:spPr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/>
              <a:t>T-SQL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72525" cy="4937125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thiệu</a:t>
            </a:r>
            <a:r>
              <a:rPr lang="en-GB" dirty="0"/>
              <a:t> T-SQL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(DDL)</a:t>
            </a:r>
            <a:r>
              <a:rPr lang="ar-SA" dirty="0"/>
              <a:t>‏</a:t>
            </a:r>
            <a:endParaRPr lang="en-GB" dirty="0"/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err="1"/>
              <a:t>Ngôn</a:t>
            </a:r>
            <a:r>
              <a:rPr lang="en-GB" dirty="0"/>
              <a:t> </a:t>
            </a:r>
            <a:r>
              <a:rPr lang="en-GB" dirty="0" err="1"/>
              <a:t>ngữ</a:t>
            </a:r>
            <a:r>
              <a:rPr lang="en-GB" dirty="0"/>
              <a:t> </a:t>
            </a:r>
            <a:r>
              <a:rPr lang="en-GB" dirty="0" err="1"/>
              <a:t>thao</a:t>
            </a:r>
            <a:r>
              <a:rPr lang="en-GB" dirty="0"/>
              <a:t> </a:t>
            </a:r>
            <a:r>
              <a:rPr lang="en-GB" dirty="0" err="1"/>
              <a:t>tác</a:t>
            </a:r>
            <a:r>
              <a:rPr lang="en-GB" dirty="0"/>
              <a:t> </a:t>
            </a:r>
            <a:r>
              <a:rPr lang="en-GB" err="1"/>
              <a:t>dữ</a:t>
            </a:r>
            <a:r>
              <a:rPr lang="en-GB"/>
              <a:t> liệu (DML)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10927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Ngôn ngữ thao tác dữ liệu</a:t>
            </a:r>
            <a:br>
              <a:rPr lang="en-GB"/>
            </a:br>
            <a:r>
              <a:rPr lang="en-GB"/>
              <a:t>DML – Data Manipulation Language</a:t>
            </a:r>
          </a:p>
        </p:txBody>
      </p:sp>
      <p:sp>
        <p:nvSpPr>
          <p:cNvPr id="4608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SELECT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INSERT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UPDATE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DELETE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Chức năng</a:t>
            </a:r>
          </a:p>
          <a:p>
            <a:pPr lvl="1" eaLnBrk="1">
              <a:lnSpc>
                <a:spcPct val="74000"/>
              </a:lnSpc>
              <a:spcBef>
                <a:spcPts val="288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Truy xuất dữ liệu từ các dòng và các cột của một hoặc nhiều bảng</a:t>
            </a:r>
          </a:p>
          <a:p>
            <a:pPr lvl="1" eaLnBrk="1">
              <a:lnSpc>
                <a:spcPct val="74000"/>
              </a:lnSpc>
              <a:spcBef>
                <a:spcPts val="288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Phép chiếu</a:t>
            </a:r>
          </a:p>
          <a:p>
            <a:pPr lvl="1" eaLnBrk="1">
              <a:lnSpc>
                <a:spcPct val="74000"/>
              </a:lnSpc>
              <a:spcBef>
                <a:spcPts val="288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Phép nối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Cú pháp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74" y="3703637"/>
            <a:ext cx="6619875" cy="25908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5017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  <a:p>
            <a:pPr lvl="1" eaLnBrk="1">
              <a:lnSpc>
                <a:spcPct val="95000"/>
              </a:lnSpc>
              <a:buFont typeface="Symbol" panose="05050102010706020507" pitchFamily="18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lvl="1" eaLnBrk="1">
              <a:lnSpc>
                <a:spcPct val="95000"/>
              </a:lnSpc>
              <a:buFont typeface="Symbol" panose="05050102010706020507" pitchFamily="18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200"/>
              <a:t>SELECT manv, hoten, ngaysinh</a:t>
            </a:r>
          </a:p>
          <a:p>
            <a:pPr lvl="1" eaLnBrk="1">
              <a:lnSpc>
                <a:spcPct val="95000"/>
              </a:lnSpc>
              <a:buFont typeface="Symbol" panose="05050102010706020507" pitchFamily="18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200"/>
              <a:t>FROM nhanvien;	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Truy vấn thường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Truy vấn có điều kiện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Tạo mới bảng dữ liệu từ kết quả của SELECT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Sắp xếp kết quả truy vấn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Phép nối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Thống kê dữ liệu với GROUP BY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Truy vấn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 – Truy vấn thường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6583362"/>
          </a:xfrm>
        </p:spPr>
        <p:txBody>
          <a:bodyPr/>
          <a:lstStyle/>
          <a:p>
            <a:pPr lvl="1" eaLnBrk="1">
              <a:lnSpc>
                <a:spcPct val="86000"/>
              </a:lnSpc>
              <a:spcBef>
                <a:spcPts val="150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Chọn tất cả các trường: *</a:t>
            </a:r>
          </a:p>
          <a:p>
            <a:pPr lvl="1" eaLnBrk="1">
              <a:lnSpc>
                <a:spcPct val="74000"/>
              </a:lnSpc>
              <a:spcBef>
                <a:spcPts val="150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Chọn một số cột</a:t>
            </a:r>
          </a:p>
          <a:p>
            <a:pPr lvl="2" eaLnBrk="1">
              <a:lnSpc>
                <a:spcPct val="70000"/>
              </a:lnSpc>
              <a:spcBef>
                <a:spcPts val="150"/>
              </a:spcBef>
              <a:spcAft>
                <a:spcPts val="288"/>
              </a:spcAft>
              <a:buFont typeface="Wingdings" panose="05000000000000000000" pitchFamily="2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b="1" i="1"/>
              <a:t>Tenbang.Tentruong</a:t>
            </a:r>
          </a:p>
          <a:p>
            <a:pPr lvl="1" eaLnBrk="1">
              <a:lnSpc>
                <a:spcPct val="74000"/>
              </a:lnSpc>
              <a:spcBef>
                <a:spcPts val="150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Thay đổi tiêu đề các cột</a:t>
            </a:r>
          </a:p>
          <a:p>
            <a:pPr lvl="1" eaLnBrk="1">
              <a:lnSpc>
                <a:spcPct val="74000"/>
              </a:lnSpc>
              <a:spcBef>
                <a:spcPts val="150"/>
              </a:spcBef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spcBef>
                <a:spcPts val="150"/>
              </a:spcBef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spcBef>
                <a:spcPts val="150"/>
              </a:spcBef>
              <a:spcAft>
                <a:spcPts val="150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spcBef>
                <a:spcPts val="150"/>
              </a:spcBef>
              <a:spcAft>
                <a:spcPts val="150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Ví dụ:</a:t>
            </a:r>
          </a:p>
          <a:p>
            <a:pPr lvl="1" eaLnBrk="1">
              <a:lnSpc>
                <a:spcPct val="74000"/>
              </a:lnSpc>
              <a:spcBef>
                <a:spcPts val="150"/>
              </a:spcBef>
              <a:spcAft>
                <a:spcPts val="150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spcBef>
                <a:spcPts val="150"/>
              </a:spcBef>
              <a:spcAft>
                <a:spcPts val="150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</p:txBody>
      </p:sp>
      <p:pic>
        <p:nvPicPr>
          <p:cNvPr id="5427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657600"/>
            <a:ext cx="4114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837" y="5580062"/>
            <a:ext cx="6076950" cy="8667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5837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Truy vấn thông thường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</a:t>
            </a:r>
            <a:r>
              <a:rPr lang="en-GB" b="1">
                <a:solidFill>
                  <a:schemeClr val="accent1">
                    <a:lumMod val="75000"/>
                  </a:schemeClr>
                </a:solidFill>
              </a:rPr>
              <a:t>Truy vấn có điều kiện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Tạo mới bảng dữ liệu từ kết quả của SELECT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Sắp xếp kết quả truy vấn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Phép nối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Thống kê dữ liệu với GROUP BY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Truy vấn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 – Truy vấn có điều kiện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Sử dụng mệnh đề WHERE</a:t>
            </a:r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Sau mệnh đề WHERE là một biểu thức logic để lọc các kết quả thỏa mãn</a:t>
            </a:r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Các toán tử so sánh</a:t>
            </a:r>
          </a:p>
          <a:p>
            <a:pPr lvl="1" eaLnBrk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Toán tử BETWEEN</a:t>
            </a:r>
          </a:p>
          <a:p>
            <a:pPr lvl="1" eaLnBrk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Danh sách (IN và NOT IN)</a:t>
            </a:r>
            <a:r>
              <a:rPr lang="ar-SA" sz="3200"/>
              <a:t>‏</a:t>
            </a:r>
            <a:endParaRPr lang="en-GB" sz="3200"/>
          </a:p>
          <a:p>
            <a:pPr lvl="1" eaLnBrk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Toán tử LIKE</a:t>
            </a:r>
          </a:p>
          <a:p>
            <a:pPr lvl="1" eaLnBrk="1">
              <a:lnSpc>
                <a:spcPct val="74000"/>
              </a:lnSpc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Các toán tử so sánh</a:t>
            </a:r>
          </a:p>
        </p:txBody>
      </p:sp>
      <p:pic>
        <p:nvPicPr>
          <p:cNvPr id="6246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68"/>
          <a:stretch/>
        </p:blipFill>
        <p:spPr bwMode="auto">
          <a:xfrm>
            <a:off x="2541588" y="2111376"/>
            <a:ext cx="5230812" cy="3099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BETWEEN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Kiểm tra dữ liệu trong phạm vi nào đó</a:t>
            </a:r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Ví dụ </a:t>
            </a:r>
          </a:p>
        </p:txBody>
      </p:sp>
      <p:pic>
        <p:nvPicPr>
          <p:cNvPr id="645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2846388"/>
            <a:ext cx="5272087" cy="103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637" y="5008562"/>
            <a:ext cx="6229350" cy="13620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Từ khóa LIKE</a:t>
            </a:r>
          </a:p>
        </p:txBody>
      </p:sp>
      <p:pic>
        <p:nvPicPr>
          <p:cNvPr id="665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88" y="2286000"/>
            <a:ext cx="6335712" cy="258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r="28890"/>
          <a:stretch/>
        </p:blipFill>
        <p:spPr>
          <a:xfrm>
            <a:off x="1982787" y="5075237"/>
            <a:ext cx="4505325" cy="8096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6861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</a:t>
            </a:r>
            <a:r>
              <a:rPr lang="en-GB" dirty="0" err="1"/>
              <a:t>thường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Tạo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mới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bảng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dữ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liệu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từ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kết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quả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của</a:t>
            </a:r>
            <a:r>
              <a:rPr lang="en-GB" dirty="0">
                <a:solidFill>
                  <a:srgbClr val="0070C0"/>
                </a:solidFill>
              </a:rPr>
              <a:t> SELECT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Sắp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nối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kê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GROUP BY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Truy </a:t>
            </a:r>
            <a:r>
              <a:rPr lang="en-GB" dirty="0" err="1"/>
              <a:t>vấn</a:t>
            </a:r>
            <a:r>
              <a:rPr lang="en-GB" dirty="0"/>
              <a:t>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Tạo bảng mới từ kết quả của SELECT</a:t>
            </a:r>
          </a:p>
        </p:txBody>
      </p:sp>
      <p:sp>
        <p:nvSpPr>
          <p:cNvPr id="7065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Câu lệnh SELECT ... INTO</a:t>
            </a:r>
          </a:p>
          <a:p>
            <a:pPr lvl="2" eaLnBrk="1">
              <a:lnSpc>
                <a:spcPct val="100000"/>
              </a:lnSpc>
              <a:spcBef>
                <a:spcPts val="28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Tạo bảng mới có cấu trúc và dữ liệu được xác định từ kết quả của truy vấn</a:t>
            </a:r>
          </a:p>
          <a:p>
            <a:pPr lvl="2" eaLnBrk="1">
              <a:lnSpc>
                <a:spcPct val="100000"/>
              </a:lnSpc>
              <a:spcBef>
                <a:spcPts val="28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Bảng mới có số cột bằng số cột chỉ định và số dòng là số dòng kết quả truy vấn</a:t>
            </a:r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Ví dụ </a:t>
            </a:r>
          </a:p>
        </p:txBody>
      </p:sp>
      <p:pic>
        <p:nvPicPr>
          <p:cNvPr id="706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5715000"/>
            <a:ext cx="627697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7270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</a:t>
            </a:r>
            <a:r>
              <a:rPr lang="en-GB" dirty="0" err="1"/>
              <a:t>thường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SELECT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Sắp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xếp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kết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quả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truy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err="1">
                <a:solidFill>
                  <a:srgbClr val="0070C0"/>
                </a:solidFill>
              </a:rPr>
              <a:t>vấn</a:t>
            </a:r>
            <a:endParaRPr lang="en-GB" dirty="0">
              <a:solidFill>
                <a:srgbClr val="0070C0"/>
              </a:solidFill>
            </a:endParaRP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nối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kê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GROUP BY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Truy </a:t>
            </a:r>
            <a:r>
              <a:rPr lang="en-GB" dirty="0" err="1"/>
              <a:t>vấn</a:t>
            </a:r>
            <a:r>
              <a:rPr lang="en-GB" dirty="0"/>
              <a:t>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Sắp xếp kết quả truy vấn</a:t>
            </a:r>
          </a:p>
        </p:txBody>
      </p:sp>
      <p:sp>
        <p:nvSpPr>
          <p:cNvPr id="7475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189037"/>
            <a:ext cx="8764587" cy="5613401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/>
              <a:t> </a:t>
            </a:r>
            <a:r>
              <a:rPr lang="en-GB" sz="3200" dirty="0" err="1"/>
              <a:t>Sử</a:t>
            </a:r>
            <a:r>
              <a:rPr lang="en-GB" sz="3200" dirty="0"/>
              <a:t> </a:t>
            </a:r>
            <a:r>
              <a:rPr lang="en-GB" sz="3200" dirty="0" err="1"/>
              <a:t>dụng</a:t>
            </a:r>
            <a:r>
              <a:rPr lang="en-GB" sz="3200" dirty="0"/>
              <a:t> ORDER BY</a:t>
            </a:r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err="1"/>
              <a:t>Tối</a:t>
            </a:r>
            <a:r>
              <a:rPr lang="en-GB" sz="3200" dirty="0"/>
              <a:t> </a:t>
            </a:r>
            <a:r>
              <a:rPr lang="en-GB" sz="3200" dirty="0" err="1"/>
              <a:t>đa</a:t>
            </a:r>
            <a:r>
              <a:rPr lang="en-GB" sz="3200" dirty="0"/>
              <a:t> 16 </a:t>
            </a:r>
            <a:r>
              <a:rPr lang="en-GB" sz="3200" dirty="0" err="1" smtClean="0"/>
              <a:t>cột</a:t>
            </a:r>
            <a:endParaRPr lang="en-GB" sz="3200" dirty="0" smtClean="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smtClean="0"/>
              <a:t>DESC: SX </a:t>
            </a:r>
            <a:r>
              <a:rPr lang="en-GB" sz="3200" dirty="0" err="1" smtClean="0"/>
              <a:t>giảm</a:t>
            </a:r>
            <a:r>
              <a:rPr lang="en-GB" sz="3200" dirty="0" smtClean="0"/>
              <a:t> </a:t>
            </a:r>
            <a:r>
              <a:rPr lang="en-GB" sz="3200" dirty="0" err="1" smtClean="0"/>
              <a:t>dần</a:t>
            </a:r>
            <a:endParaRPr lang="en-GB" sz="3200" dirty="0" smtClean="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smtClean="0"/>
              <a:t>ASC: SX </a:t>
            </a:r>
            <a:r>
              <a:rPr lang="en-GB" sz="3200" dirty="0" err="1" smtClean="0"/>
              <a:t>tăng</a:t>
            </a:r>
            <a:r>
              <a:rPr lang="en-GB" sz="3200" dirty="0" smtClean="0"/>
              <a:t> </a:t>
            </a:r>
            <a:r>
              <a:rPr lang="en-GB" sz="3200" dirty="0" err="1" smtClean="0"/>
              <a:t>dần</a:t>
            </a:r>
            <a:r>
              <a:rPr lang="en-GB" sz="3200" dirty="0" smtClean="0"/>
              <a:t> </a:t>
            </a:r>
            <a:endParaRPr lang="en-GB" sz="3200" dirty="0" smtClean="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 dirty="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endParaRPr lang="en-GB" sz="3200" dirty="0"/>
          </a:p>
        </p:txBody>
      </p:sp>
      <p:pic>
        <p:nvPicPr>
          <p:cNvPr id="747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3589338"/>
            <a:ext cx="2727325" cy="61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475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4991100"/>
            <a:ext cx="5915025" cy="162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Left Brace 1"/>
          <p:cNvSpPr/>
          <p:nvPr/>
        </p:nvSpPr>
        <p:spPr>
          <a:xfrm>
            <a:off x="2297112" y="3589338"/>
            <a:ext cx="304800" cy="49529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eft Brace 2"/>
          <p:cNvSpPr/>
          <p:nvPr/>
        </p:nvSpPr>
        <p:spPr>
          <a:xfrm>
            <a:off x="2373312" y="4991100"/>
            <a:ext cx="382588" cy="16271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2112" y="3703637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Câu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lệnh</a:t>
            </a:r>
            <a:r>
              <a:rPr lang="en-US" dirty="0" smtClean="0">
                <a:solidFill>
                  <a:schemeClr val="tx1"/>
                </a:solidFill>
              </a:rPr>
              <a:t>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312" y="5608637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Câu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lệnh</a:t>
            </a:r>
            <a:r>
              <a:rPr lang="en-US" dirty="0" smtClean="0">
                <a:solidFill>
                  <a:schemeClr val="tx1"/>
                </a:solidFill>
              </a:rPr>
              <a:t> 2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7680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</a:t>
            </a:r>
            <a:r>
              <a:rPr lang="en-GB" dirty="0" err="1"/>
              <a:t>thường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SELECT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Sắp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 err="1">
                <a:solidFill>
                  <a:schemeClr val="accent5"/>
                </a:solidFill>
              </a:rPr>
              <a:t>Phép</a:t>
            </a: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 err="1">
                <a:solidFill>
                  <a:schemeClr val="accent5"/>
                </a:solidFill>
              </a:rPr>
              <a:t>nối</a:t>
            </a:r>
            <a:endParaRPr lang="en-GB" b="1" dirty="0">
              <a:solidFill>
                <a:schemeClr val="accent5"/>
              </a:solidFill>
            </a:endParaRP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kê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GROUP BY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 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</a:t>
            </a:r>
          </a:p>
        </p:txBody>
      </p:sp>
      <p:sp>
        <p:nvSpPr>
          <p:cNvPr id="7885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/>
              <a:t> </a:t>
            </a:r>
            <a:r>
              <a:rPr lang="en-GB" sz="3200" dirty="0" err="1"/>
              <a:t>Phép</a:t>
            </a:r>
            <a:r>
              <a:rPr lang="en-GB" sz="3200" dirty="0"/>
              <a:t> </a:t>
            </a:r>
            <a:r>
              <a:rPr lang="en-GB" sz="3200" dirty="0" err="1"/>
              <a:t>nối</a:t>
            </a:r>
            <a:r>
              <a:rPr lang="en-GB" sz="3200" dirty="0"/>
              <a:t> </a:t>
            </a:r>
            <a:r>
              <a:rPr lang="en-GB" sz="3200" dirty="0" err="1"/>
              <a:t>bằng</a:t>
            </a:r>
            <a:r>
              <a:rPr lang="en-GB" sz="3200" dirty="0"/>
              <a:t> (</a:t>
            </a:r>
            <a:r>
              <a:rPr lang="en-GB" sz="3200" dirty="0" err="1"/>
              <a:t>equi</a:t>
            </a:r>
            <a:r>
              <a:rPr lang="en-GB" sz="3200" dirty="0"/>
              <a:t>-joint) </a:t>
            </a:r>
            <a:r>
              <a:rPr lang="en-GB" sz="3200" dirty="0" err="1"/>
              <a:t>và</a:t>
            </a:r>
            <a:r>
              <a:rPr lang="en-GB" sz="3200" dirty="0"/>
              <a:t> </a:t>
            </a:r>
            <a:r>
              <a:rPr lang="en-GB" sz="3200" dirty="0" err="1"/>
              <a:t>phép</a:t>
            </a:r>
            <a:r>
              <a:rPr lang="en-GB" sz="3200" dirty="0"/>
              <a:t> </a:t>
            </a:r>
            <a:r>
              <a:rPr lang="en-GB" sz="3200" dirty="0" err="1"/>
              <a:t>nối</a:t>
            </a:r>
            <a:r>
              <a:rPr lang="en-GB" sz="3200" dirty="0"/>
              <a:t> </a:t>
            </a:r>
            <a:r>
              <a:rPr lang="en-GB" sz="3200" dirty="0" err="1"/>
              <a:t>tự</a:t>
            </a:r>
            <a:r>
              <a:rPr lang="en-GB" sz="3200" dirty="0"/>
              <a:t> </a:t>
            </a:r>
            <a:r>
              <a:rPr lang="en-GB" sz="3200" dirty="0" err="1"/>
              <a:t>nhiên</a:t>
            </a:r>
            <a:r>
              <a:rPr lang="en-GB" sz="3200" dirty="0"/>
              <a:t> (natural-join)</a:t>
            </a:r>
            <a:r>
              <a:rPr lang="ar-SA" sz="3200" dirty="0"/>
              <a:t>‏</a:t>
            </a:r>
            <a:endParaRPr lang="en-GB" sz="3200" dirty="0"/>
          </a:p>
          <a:p>
            <a:pPr lvl="1" eaLnBrk="1">
              <a:lnSpc>
                <a:spcPct val="100000"/>
              </a:lnSpc>
              <a:spcBef>
                <a:spcPts val="28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err="1"/>
              <a:t>Phép</a:t>
            </a:r>
            <a:r>
              <a:rPr lang="en-GB" sz="3200" dirty="0"/>
              <a:t> </a:t>
            </a:r>
            <a:r>
              <a:rPr lang="en-GB" sz="3200" dirty="0" err="1"/>
              <a:t>nối</a:t>
            </a:r>
            <a:r>
              <a:rPr lang="en-GB" sz="3200" dirty="0"/>
              <a:t> </a:t>
            </a:r>
            <a:r>
              <a:rPr lang="en-GB" sz="3200" dirty="0" err="1"/>
              <a:t>ngoài</a:t>
            </a:r>
            <a:r>
              <a:rPr lang="en-GB" sz="3200" dirty="0"/>
              <a:t> (Outer-join)</a:t>
            </a:r>
            <a:r>
              <a:rPr lang="ar-SA" sz="3200" dirty="0"/>
              <a:t>‏</a:t>
            </a:r>
            <a:endParaRPr lang="en-GB" sz="3200" dirty="0"/>
          </a:p>
          <a:p>
            <a:pPr lvl="2" eaLnBrk="1">
              <a:lnSpc>
                <a:spcPct val="100000"/>
              </a:lnSpc>
              <a:spcBef>
                <a:spcPts val="28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err="1"/>
              <a:t>Phép</a:t>
            </a:r>
            <a:r>
              <a:rPr lang="en-GB" sz="3200" dirty="0"/>
              <a:t> </a:t>
            </a:r>
            <a:r>
              <a:rPr lang="en-GB" sz="3200" dirty="0" err="1"/>
              <a:t>nối</a:t>
            </a:r>
            <a:r>
              <a:rPr lang="en-GB" sz="3200" dirty="0"/>
              <a:t> </a:t>
            </a:r>
            <a:r>
              <a:rPr lang="en-GB" sz="3200" dirty="0" err="1"/>
              <a:t>ngoài</a:t>
            </a:r>
            <a:r>
              <a:rPr lang="en-GB" sz="3200" dirty="0"/>
              <a:t> </a:t>
            </a:r>
            <a:r>
              <a:rPr lang="en-GB" sz="3200" dirty="0" err="1"/>
              <a:t>trái</a:t>
            </a:r>
            <a:r>
              <a:rPr lang="en-GB" sz="3200" dirty="0"/>
              <a:t> (LEFT OUTER JOIN)</a:t>
            </a:r>
            <a:r>
              <a:rPr lang="ar-SA" sz="3200" dirty="0"/>
              <a:t>‏</a:t>
            </a:r>
            <a:endParaRPr lang="en-GB" sz="3200" dirty="0"/>
          </a:p>
          <a:p>
            <a:pPr lvl="2" eaLnBrk="1">
              <a:lnSpc>
                <a:spcPct val="100000"/>
              </a:lnSpc>
              <a:spcBef>
                <a:spcPts val="28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err="1"/>
              <a:t>Phép</a:t>
            </a:r>
            <a:r>
              <a:rPr lang="en-GB" sz="3200" dirty="0"/>
              <a:t> </a:t>
            </a:r>
            <a:r>
              <a:rPr lang="en-GB" sz="3200" dirty="0" err="1"/>
              <a:t>nối</a:t>
            </a:r>
            <a:r>
              <a:rPr lang="en-GB" sz="3200" dirty="0"/>
              <a:t> </a:t>
            </a:r>
            <a:r>
              <a:rPr lang="en-GB" sz="3200" dirty="0" err="1"/>
              <a:t>ngoài</a:t>
            </a:r>
            <a:r>
              <a:rPr lang="en-GB" sz="3200" dirty="0"/>
              <a:t> </a:t>
            </a:r>
            <a:r>
              <a:rPr lang="en-GB" sz="3200" dirty="0" err="1"/>
              <a:t>phải</a:t>
            </a:r>
            <a:r>
              <a:rPr lang="en-GB" sz="3200" dirty="0"/>
              <a:t> (RIGHT OUTER JOIN)</a:t>
            </a:r>
            <a:r>
              <a:rPr lang="ar-SA" sz="3200" dirty="0"/>
              <a:t>‏</a:t>
            </a:r>
            <a:endParaRPr lang="en-GB" sz="3200" dirty="0"/>
          </a:p>
          <a:p>
            <a:pPr lvl="2" eaLnBrk="1">
              <a:lnSpc>
                <a:spcPct val="100000"/>
              </a:lnSpc>
              <a:spcBef>
                <a:spcPts val="28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err="1"/>
              <a:t>Phép</a:t>
            </a:r>
            <a:r>
              <a:rPr lang="en-GB" sz="3200" dirty="0"/>
              <a:t> </a:t>
            </a:r>
            <a:r>
              <a:rPr lang="en-GB" sz="3200" dirty="0" err="1"/>
              <a:t>nối</a:t>
            </a:r>
            <a:r>
              <a:rPr lang="en-GB" sz="3200" dirty="0"/>
              <a:t> </a:t>
            </a:r>
            <a:r>
              <a:rPr lang="en-GB" sz="3200" dirty="0" err="1"/>
              <a:t>ngoài</a:t>
            </a:r>
            <a:r>
              <a:rPr lang="en-GB" sz="3200" dirty="0"/>
              <a:t> </a:t>
            </a:r>
            <a:r>
              <a:rPr lang="en-GB" sz="3200" dirty="0" err="1"/>
              <a:t>đầy</a:t>
            </a:r>
            <a:r>
              <a:rPr lang="en-GB" sz="3200" dirty="0"/>
              <a:t> </a:t>
            </a:r>
            <a:r>
              <a:rPr lang="en-GB" sz="3200" dirty="0" err="1"/>
              <a:t>đủ</a:t>
            </a:r>
            <a:r>
              <a:rPr lang="en-GB" sz="3200"/>
              <a:t> (FULL </a:t>
            </a:r>
            <a:r>
              <a:rPr lang="en-GB" sz="3200" dirty="0"/>
              <a:t>OUTER JOIN)</a:t>
            </a:r>
          </a:p>
          <a:p>
            <a:pPr lvl="1" eaLnBrk="1">
              <a:lnSpc>
                <a:spcPct val="100000"/>
              </a:lnSpc>
              <a:spcBef>
                <a:spcPts val="438"/>
              </a:spcBef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 dirty="0" err="1"/>
              <a:t>Phép</a:t>
            </a:r>
            <a:r>
              <a:rPr lang="en-GB" sz="3200" dirty="0"/>
              <a:t> </a:t>
            </a:r>
            <a:r>
              <a:rPr lang="en-GB" sz="3200" dirty="0" err="1"/>
              <a:t>nối</a:t>
            </a:r>
            <a:r>
              <a:rPr lang="en-GB" sz="3200" dirty="0"/>
              <a:t> </a:t>
            </a:r>
            <a:r>
              <a:rPr lang="en-GB" sz="3200" dirty="0" err="1"/>
              <a:t>nhiều</a:t>
            </a:r>
            <a:r>
              <a:rPr lang="en-GB" sz="3200" dirty="0"/>
              <a:t> </a:t>
            </a:r>
            <a:r>
              <a:rPr lang="en-GB" sz="3200" dirty="0" err="1"/>
              <a:t>bảng</a:t>
            </a:r>
            <a:endParaRPr lang="en-GB" sz="32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</a:t>
            </a:r>
          </a:p>
        </p:txBody>
      </p:sp>
      <p:sp>
        <p:nvSpPr>
          <p:cNvPr id="8089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Phép nối trong</a:t>
            </a:r>
          </a:p>
        </p:txBody>
      </p:sp>
      <p:pic>
        <p:nvPicPr>
          <p:cNvPr id="8090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00" y="2673350"/>
            <a:ext cx="55880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090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3408363"/>
            <a:ext cx="3289300" cy="139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090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100" y="3365500"/>
            <a:ext cx="34925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</a:t>
            </a:r>
          </a:p>
        </p:txBody>
      </p:sp>
      <p:sp>
        <p:nvSpPr>
          <p:cNvPr id="8294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Phép nối ngoài trái (LEFT OUTER JOIN)</a:t>
            </a:r>
            <a:r>
              <a:rPr lang="ar-SA" sz="3200"/>
              <a:t>‏</a:t>
            </a:r>
            <a:endParaRPr lang="en-GB" sz="320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Phép nối ngoài phải (RIGHT OUTER JOIN)</a:t>
            </a:r>
            <a:r>
              <a:rPr lang="ar-SA" sz="3200"/>
              <a:t>‏</a:t>
            </a:r>
            <a:endParaRPr lang="en-GB" sz="320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Phép nối ngoài đầy đủ (FULL OUTER JOIN)</a:t>
            </a:r>
            <a:r>
              <a:rPr lang="ar-SA" sz="3200"/>
              <a:t>‏</a:t>
            </a:r>
            <a:endParaRPr lang="en-GB" sz="3200"/>
          </a:p>
        </p:txBody>
      </p:sp>
      <p:pic>
        <p:nvPicPr>
          <p:cNvPr id="829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4149725"/>
            <a:ext cx="5962650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</a:t>
            </a:r>
          </a:p>
        </p:txBody>
      </p:sp>
      <p:sp>
        <p:nvSpPr>
          <p:cNvPr id="8499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</a:t>
            </a:r>
          </a:p>
        </p:txBody>
      </p:sp>
      <p:pic>
        <p:nvPicPr>
          <p:cNvPr id="849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5" y="198437"/>
            <a:ext cx="6172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499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2" y="3932237"/>
            <a:ext cx="6400800" cy="10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2" y="5075237"/>
            <a:ext cx="67960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2" y="6155284"/>
            <a:ext cx="6294437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6112" y="2865437"/>
            <a:ext cx="5448300" cy="10001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</a:t>
            </a:r>
          </a:p>
        </p:txBody>
      </p:sp>
      <p:sp>
        <p:nvSpPr>
          <p:cNvPr id="8499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</a:t>
            </a:r>
          </a:p>
        </p:txBody>
      </p:sp>
      <p:pic>
        <p:nvPicPr>
          <p:cNvPr id="849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6172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499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343400"/>
            <a:ext cx="6400800" cy="10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0022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 (LEFT OUTER JOIN)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8704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</a:t>
            </a:r>
          </a:p>
        </p:txBody>
      </p:sp>
      <p:pic>
        <p:nvPicPr>
          <p:cNvPr id="870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43000"/>
            <a:ext cx="6172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704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062413"/>
            <a:ext cx="5486400" cy="302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 (RIGHT OUTER JOIN)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8909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</a:t>
            </a:r>
          </a:p>
        </p:txBody>
      </p:sp>
      <p:pic>
        <p:nvPicPr>
          <p:cNvPr id="890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00200"/>
            <a:ext cx="6172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909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800600"/>
            <a:ext cx="67960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 (RIGHT OUTER JOIN)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9113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</a:t>
            </a:r>
          </a:p>
        </p:txBody>
      </p:sp>
      <p:pic>
        <p:nvPicPr>
          <p:cNvPr id="911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00200"/>
            <a:ext cx="54864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114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203700"/>
            <a:ext cx="54864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 (FULL OUTER JOIN)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9318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</a:t>
            </a:r>
          </a:p>
        </p:txBody>
      </p:sp>
      <p:pic>
        <p:nvPicPr>
          <p:cNvPr id="931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00200"/>
            <a:ext cx="6172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318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4800600"/>
            <a:ext cx="6294437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ngoài (FULL OUTER JOIN)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9523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Font typeface="Symbol" panose="05050102010706020507" pitchFamily="18" charset="2"/>
              <a:buNone/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 </a:t>
            </a:r>
          </a:p>
        </p:txBody>
      </p:sp>
      <p:pic>
        <p:nvPicPr>
          <p:cNvPr id="952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00200"/>
            <a:ext cx="6172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523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572000"/>
            <a:ext cx="5943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Phép nối nhiều bảng</a:t>
            </a:r>
          </a:p>
        </p:txBody>
      </p:sp>
      <p:sp>
        <p:nvSpPr>
          <p:cNvPr id="9728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Cho phép thực hiện phép nối nhiều bảng một cách rõ ràng</a:t>
            </a:r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Phép nối thực hiện theo thứ tự định nghĩa</a:t>
            </a:r>
            <a:r>
              <a:rPr lang="ar-SA" sz="3200"/>
              <a:t>‏</a:t>
            </a:r>
            <a:endParaRPr lang="en-GB" sz="3200"/>
          </a:p>
          <a:p>
            <a:pPr lvl="1" eaLnBrk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tabLst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598025" algn="l"/>
              </a:tabLst>
            </a:pPr>
            <a:r>
              <a:rPr lang="en-GB" sz="3200"/>
              <a:t>Ví dụ:</a:t>
            </a:r>
          </a:p>
        </p:txBody>
      </p:sp>
      <p:pic>
        <p:nvPicPr>
          <p:cNvPr id="972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133850"/>
            <a:ext cx="68580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9933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</a:t>
            </a:r>
            <a:r>
              <a:rPr lang="en-GB" dirty="0" err="1"/>
              <a:t>thường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SELECT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Sắp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nối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 err="1">
                <a:solidFill>
                  <a:schemeClr val="accent5"/>
                </a:solidFill>
              </a:rPr>
              <a:t>Thống</a:t>
            </a: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 err="1">
                <a:solidFill>
                  <a:schemeClr val="accent5"/>
                </a:solidFill>
              </a:rPr>
              <a:t>kê</a:t>
            </a: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 err="1">
                <a:solidFill>
                  <a:schemeClr val="accent5"/>
                </a:solidFill>
              </a:rPr>
              <a:t>dữ</a:t>
            </a: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 err="1">
                <a:solidFill>
                  <a:schemeClr val="accent5"/>
                </a:solidFill>
              </a:rPr>
              <a:t>liệu</a:t>
            </a: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 err="1">
                <a:solidFill>
                  <a:schemeClr val="accent5"/>
                </a:solidFill>
              </a:rPr>
              <a:t>với</a:t>
            </a:r>
            <a:r>
              <a:rPr lang="en-GB" b="1" dirty="0">
                <a:solidFill>
                  <a:schemeClr val="accent5"/>
                </a:solidFill>
              </a:rPr>
              <a:t> GROUP BY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Truy </a:t>
            </a:r>
            <a:r>
              <a:rPr lang="en-GB" dirty="0" err="1"/>
              <a:t>vấn</a:t>
            </a:r>
            <a:r>
              <a:rPr lang="en-GB" dirty="0"/>
              <a:t>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Thống kê dữ liệu với GROUP BY</a:t>
            </a:r>
          </a:p>
        </p:txBody>
      </p:sp>
      <p:sp>
        <p:nvSpPr>
          <p:cNvPr id="10137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Mệnh đề GROUP BY cho phép phân hoạch các dòng dữ liệu thành các nhóm dữ liệu và thực hiện các phép toán trên các nhóm dữ liệu đó</a:t>
            </a:r>
          </a:p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Các hàm gộp được sử dụng để tính toán trên toàn bảng, hoặc trên mỗi nhóm dữ liệu</a:t>
            </a:r>
          </a:p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Các hàm gộp được sử dụng như là các cột trong danh sách các cột trong SELECT hoặc HAVING, không được xuất hiện sau WHERE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Thống kê dữ liệu với GROUP BY</a:t>
            </a:r>
          </a:p>
        </p:txBody>
      </p:sp>
      <p:sp>
        <p:nvSpPr>
          <p:cNvPr id="10342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/>
            <a:endParaRPr lang="en-US"/>
          </a:p>
        </p:txBody>
      </p:sp>
      <p:pic>
        <p:nvPicPr>
          <p:cNvPr id="10342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86000"/>
            <a:ext cx="75438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Thống kê dữ liệu với GROUP BY</a:t>
            </a:r>
          </a:p>
        </p:txBody>
      </p:sp>
      <p:sp>
        <p:nvSpPr>
          <p:cNvPr id="10547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Thống kê trên toàn bộ dữ liệu</a:t>
            </a:r>
          </a:p>
        </p:txBody>
      </p:sp>
      <p:pic>
        <p:nvPicPr>
          <p:cNvPr id="10547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2619375"/>
            <a:ext cx="314801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547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676650"/>
            <a:ext cx="5095875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Thống kê dữ liệu với GROUP BY</a:t>
            </a:r>
          </a:p>
        </p:txBody>
      </p:sp>
      <p:sp>
        <p:nvSpPr>
          <p:cNvPr id="10752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Thống kê trên các nhóm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Viết câu lệnh SQL để hiển thị số sinh viên của mỗi lớp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Cho biết điểm trung bình thi lần 1 các môn học của mỗi sinh viên.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1D63FE-AC2F-4715-8227-C38CBC8AC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2" y="3475037"/>
            <a:ext cx="6640512" cy="2692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Thống kê dữ liệu với GROUP BY</a:t>
            </a:r>
          </a:p>
        </p:txBody>
      </p:sp>
      <p:sp>
        <p:nvSpPr>
          <p:cNvPr id="10957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Thống kê trên các nhóm</a:t>
            </a:r>
          </a:p>
        </p:txBody>
      </p:sp>
      <p:pic>
        <p:nvPicPr>
          <p:cNvPr id="1095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608263"/>
            <a:ext cx="5002213" cy="150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957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572000"/>
            <a:ext cx="5486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Thống kê dữ liệu với GROUP BY</a:t>
            </a:r>
          </a:p>
        </p:txBody>
      </p:sp>
      <p:sp>
        <p:nvSpPr>
          <p:cNvPr id="11366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Chỉ định điều kiện đối với hàm gộp (HAVING)</a:t>
            </a:r>
            <a:r>
              <a:rPr lang="ar-SA"/>
              <a:t>‏</a:t>
            </a:r>
            <a:endParaRPr lang="en-GB"/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HAVING sử dụng sau GROUP BY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Khác với WHERE:</a:t>
            </a:r>
          </a:p>
          <a:p>
            <a:pPr lvl="2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HAVING cho phép sử dụng hàm gộp còn WHERE thì không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</p:txBody>
      </p:sp>
      <p:pic>
        <p:nvPicPr>
          <p:cNvPr id="1136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14800"/>
            <a:ext cx="57150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SELECT</a:t>
            </a:r>
          </a:p>
        </p:txBody>
      </p:sp>
      <p:sp>
        <p:nvSpPr>
          <p:cNvPr id="12185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</a:t>
            </a:r>
            <a:r>
              <a:rPr lang="en-GB" dirty="0" err="1"/>
              <a:t>thường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SELECT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Sắp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truy</a:t>
            </a:r>
            <a:r>
              <a:rPr lang="en-GB" dirty="0"/>
              <a:t> </a:t>
            </a:r>
            <a:r>
              <a:rPr lang="en-GB" dirty="0" err="1"/>
              <a:t>vấn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nối</a:t>
            </a:r>
            <a:endParaRPr lang="en-GB" dirty="0"/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kê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GROUP BY</a:t>
            </a:r>
          </a:p>
          <a:p>
            <a:pPr eaLnBrk="1">
              <a:lnSpc>
                <a:spcPct val="95000"/>
              </a:lnSpc>
              <a:spcBef>
                <a:spcPts val="288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solidFill>
                  <a:schemeClr val="accent5"/>
                </a:solidFill>
              </a:rPr>
              <a:t>Truy </a:t>
            </a:r>
            <a:r>
              <a:rPr lang="en-GB" b="1" dirty="0" err="1">
                <a:solidFill>
                  <a:schemeClr val="accent5"/>
                </a:solidFill>
              </a:rPr>
              <a:t>vấn</a:t>
            </a:r>
            <a:r>
              <a:rPr lang="en-GB" b="1" dirty="0">
                <a:solidFill>
                  <a:schemeClr val="accent5"/>
                </a:solidFill>
              </a:rPr>
              <a:t>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Truy vấn con (Subquery)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123907" name="Rectangle 2"/>
          <p:cNvSpPr>
            <a:spLocks noGrp="1" noChangeArrowheads="1"/>
          </p:cNvSpPr>
          <p:nvPr>
            <p:ph idx="1"/>
          </p:nvPr>
        </p:nvSpPr>
        <p:spPr>
          <a:xfrm>
            <a:off x="836613" y="1600200"/>
            <a:ext cx="8764587" cy="5486400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Là truy vấn được lồng trong một câu lệnh SELECT, INSERT, UPDATE, DELETE hoặc trong một truy vấn con khác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Sử dụng để biểu diễn những truy vấn trong đó điều kiện truy vấn là kết quả của một truy vấn khác</a:t>
            </a:r>
          </a:p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Cú pháp</a:t>
            </a:r>
          </a:p>
        </p:txBody>
      </p:sp>
      <p:pic>
        <p:nvPicPr>
          <p:cNvPr id="1239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2" y="3779837"/>
            <a:ext cx="6524957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Truy vấn con (Subquery)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125955" name="Rectangle 2"/>
          <p:cNvSpPr>
            <a:spLocks noGrp="1" noChangeArrowheads="1"/>
          </p:cNvSpPr>
          <p:nvPr>
            <p:ph idx="1"/>
          </p:nvPr>
        </p:nvSpPr>
        <p:spPr>
          <a:xfrm>
            <a:off x="836613" y="1600200"/>
            <a:ext cx="8764587" cy="5486400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Một số chú ý khi sử dụng truy vấn con: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Một truy vấn con phải đặt trong ()</a:t>
            </a:r>
            <a:r>
              <a:rPr lang="ar-SA"/>
              <a:t>‏</a:t>
            </a:r>
            <a:endParaRPr lang="en-GB"/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Kết quả của truy vấn con thường là một cột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Tên cột trong truy vấn con có thể là các cột trong truy vấn ngoài</a:t>
            </a:r>
          </a:p>
          <a:p>
            <a:pPr lvl="1"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Mệnh đề ORDER BY không có trong truy vấn con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9088437" cy="1165225"/>
          </a:xfrm>
        </p:spPr>
        <p:txBody>
          <a:bodyPr/>
          <a:lstStyle/>
          <a:p>
            <a:pPr eaLnBrk="1">
              <a:lnSpc>
                <a:spcPct val="66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/>
              <a:t>Truy vấn con (Subquery)</a:t>
            </a:r>
            <a:r>
              <a:rPr lang="ar-SA" sz="3600"/>
              <a:t>‏</a:t>
            </a:r>
            <a:endParaRPr lang="en-GB" sz="3600"/>
          </a:p>
        </p:txBody>
      </p:sp>
      <p:sp>
        <p:nvSpPr>
          <p:cNvPr id="128003" name="Rectangle 2"/>
          <p:cNvSpPr>
            <a:spLocks noGrp="1" noChangeArrowheads="1"/>
          </p:cNvSpPr>
          <p:nvPr>
            <p:ph idx="1"/>
          </p:nvPr>
        </p:nvSpPr>
        <p:spPr>
          <a:xfrm>
            <a:off x="836613" y="1600200"/>
            <a:ext cx="8764587" cy="5486400"/>
          </a:xfrm>
        </p:spPr>
        <p:txBody>
          <a:bodyPr/>
          <a:lstStyle/>
          <a:p>
            <a:pPr eaLnBrk="1">
              <a:lnSpc>
                <a:spcPct val="95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</p:txBody>
      </p:sp>
      <p:pic>
        <p:nvPicPr>
          <p:cNvPr id="1280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286000"/>
            <a:ext cx="5614987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800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4572000"/>
            <a:ext cx="6172200" cy="200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Ngôn ngữ thao tác dữ liệu</a:t>
            </a:r>
            <a:br>
              <a:rPr lang="en-GB"/>
            </a:br>
            <a:r>
              <a:rPr lang="en-GB"/>
              <a:t>DML – Data Manipulation Language</a:t>
            </a:r>
          </a:p>
        </p:txBody>
      </p:sp>
      <p:sp>
        <p:nvSpPr>
          <p:cNvPr id="13209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SELECT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chemeClr val="accent5"/>
                </a:solidFill>
              </a:rPr>
              <a:t>INSERT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UPDATE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DELETE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Bổ sung dữ liệu: INSERT</a:t>
            </a:r>
          </a:p>
        </p:txBody>
      </p:sp>
      <p:sp>
        <p:nvSpPr>
          <p:cNvPr id="13414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Bổ sung từng dòng dữ liệu với mỗi câu lệnh INSERT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Bổ sung nhiều dòng dữ liệu bằng cách truy xuất dữ liệu từ các bảng khác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Bổ sung dữ liệu: INSERT</a:t>
            </a:r>
          </a:p>
        </p:txBody>
      </p:sp>
      <p:sp>
        <p:nvSpPr>
          <p:cNvPr id="13619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600200"/>
            <a:ext cx="8764587" cy="5202238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Bổ sung từng dòng dữ liệu với mỗi câu lệnh INSERT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dụ:</a:t>
            </a:r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/>
              <a:t>INSERT INTO khoa</a:t>
            </a:r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/>
              <a:t>VALUES (‘DHT10’, N’Khoa Luật’, ‘054821135’)</a:t>
            </a:r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/>
              <a:t>INSERT INTO sinhvien(masv,hodem,ten,gioitinh,malop)</a:t>
            </a:r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/>
              <a:t>VALUES(‘0241020008’, N’Nguyễn Công’, N’Chính’,1,’C24102’)</a:t>
            </a:r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1800"/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/>
              <a:t>INSERT INTO sinhvien</a:t>
            </a:r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/>
              <a:t>VALUES(‘0241020008’, N’Nguyễn Công’, N’Chính’,NULL,1,NULL, ’C24102’)</a:t>
            </a:r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marL="1134039" lvl="3" indent="0">
              <a:lnSpc>
                <a:spcPct val="95000"/>
              </a:lnSpc>
              <a:spcBef>
                <a:spcPts val="575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</p:txBody>
      </p:sp>
      <p:pic>
        <p:nvPicPr>
          <p:cNvPr id="1361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712" y="2103437"/>
            <a:ext cx="5029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Bổ sung dữ liệu: INSERT</a:t>
            </a:r>
          </a:p>
        </p:txBody>
      </p:sp>
      <p:sp>
        <p:nvSpPr>
          <p:cNvPr id="13824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600200"/>
            <a:ext cx="8764587" cy="5202238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Bổ sung nhiều dòng dữ liệu từ các bảng khác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95000"/>
              </a:lnSpc>
              <a:spcBef>
                <a:spcPts val="575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95000"/>
              </a:lnSpc>
              <a:spcBef>
                <a:spcPts val="575"/>
              </a:spcBef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Chú ý</a:t>
            </a:r>
          </a:p>
          <a:p>
            <a:pPr lvl="1"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Kết quả của câu lệnh SELECT phải có số cột bằng số cột được chỉ định trong bảng đích và phải tương thích về kiểu dữ liệu</a:t>
            </a:r>
          </a:p>
        </p:txBody>
      </p:sp>
      <p:pic>
        <p:nvPicPr>
          <p:cNvPr id="1382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06613"/>
            <a:ext cx="59436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824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713037"/>
            <a:ext cx="481012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Ngôn ngữ thao tác dữ liệu</a:t>
            </a:r>
            <a:br>
              <a:rPr lang="en-GB"/>
            </a:br>
            <a:r>
              <a:rPr lang="en-GB"/>
              <a:t>DML – Data Manipulation Language</a:t>
            </a:r>
          </a:p>
        </p:txBody>
      </p:sp>
      <p:sp>
        <p:nvSpPr>
          <p:cNvPr id="14029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SELECT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INSERT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solidFill>
                  <a:schemeClr val="accent5"/>
                </a:solidFill>
              </a:rPr>
              <a:t>UPDATE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DELETE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Bổ sung dữ liệu: UPDATE</a:t>
            </a:r>
          </a:p>
        </p:txBody>
      </p:sp>
      <p:sp>
        <p:nvSpPr>
          <p:cNvPr id="142339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600200"/>
            <a:ext cx="8764587" cy="5202238"/>
          </a:xfrm>
        </p:spPr>
        <p:txBody>
          <a:bodyPr/>
          <a:lstStyle/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Cú pháp</a:t>
            </a:r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</p:txBody>
      </p:sp>
      <p:pic>
        <p:nvPicPr>
          <p:cNvPr id="1423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86000"/>
            <a:ext cx="4800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234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2" y="4694237"/>
            <a:ext cx="23415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Bổ sung dữ liệu: UPDATE</a:t>
            </a:r>
          </a:p>
        </p:txBody>
      </p:sp>
      <p:sp>
        <p:nvSpPr>
          <p:cNvPr id="144387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600200"/>
            <a:ext cx="8764587" cy="5202238"/>
          </a:xfrm>
        </p:spPr>
        <p:txBody>
          <a:bodyPr/>
          <a:lstStyle/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</p:txBody>
      </p:sp>
      <p:pic>
        <p:nvPicPr>
          <p:cNvPr id="1443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8" y="2286000"/>
            <a:ext cx="5357812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Ngôn ngữ thao tác dữ liệu</a:t>
            </a:r>
            <a:br>
              <a:rPr lang="en-GB"/>
            </a:br>
            <a:r>
              <a:rPr lang="en-GB"/>
              <a:t>DML – Data Manipulation Language</a:t>
            </a:r>
          </a:p>
        </p:txBody>
      </p:sp>
      <p:sp>
        <p:nvSpPr>
          <p:cNvPr id="146435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963738"/>
            <a:ext cx="8764587" cy="4838700"/>
          </a:xfrm>
        </p:spPr>
        <p:txBody>
          <a:bodyPr/>
          <a:lstStyle/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SELECT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INSERT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UPDATE</a:t>
            </a:r>
          </a:p>
          <a:p>
            <a:pPr eaLnBrk="1">
              <a:lnSpc>
                <a:spcPct val="95000"/>
              </a:lnSpc>
              <a:spcBef>
                <a:spcPts val="575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solidFill>
                  <a:schemeClr val="accent5"/>
                </a:solidFill>
              </a:rPr>
              <a:t>DELETE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Xóa dữ liệu: DELETE</a:t>
            </a:r>
          </a:p>
        </p:txBody>
      </p:sp>
      <p:sp>
        <p:nvSpPr>
          <p:cNvPr id="148483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600200"/>
            <a:ext cx="8764587" cy="5202238"/>
          </a:xfrm>
        </p:spPr>
        <p:txBody>
          <a:bodyPr/>
          <a:lstStyle/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Cú pháp</a:t>
            </a:r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Ví dụ</a:t>
            </a:r>
          </a:p>
        </p:txBody>
      </p:sp>
      <p:pic>
        <p:nvPicPr>
          <p:cNvPr id="148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2286000"/>
            <a:ext cx="3157537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848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932237"/>
            <a:ext cx="392112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848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819650"/>
            <a:ext cx="5486400" cy="94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8487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688" y="5989637"/>
            <a:ext cx="552291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Xóa dữ liệu: DELETE</a:t>
            </a:r>
          </a:p>
        </p:txBody>
      </p:sp>
      <p:sp>
        <p:nvSpPr>
          <p:cNvPr id="150531" name="Rectangle 2"/>
          <p:cNvSpPr>
            <a:spLocks noGrp="1" noChangeArrowheads="1"/>
          </p:cNvSpPr>
          <p:nvPr>
            <p:ph idx="1"/>
          </p:nvPr>
        </p:nvSpPr>
        <p:spPr>
          <a:xfrm>
            <a:off x="741363" y="1600200"/>
            <a:ext cx="8764587" cy="5202238"/>
          </a:xfrm>
        </p:spPr>
        <p:txBody>
          <a:bodyPr/>
          <a:lstStyle/>
          <a:p>
            <a:pPr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Xóa toàn bộ dữ liệu trong bảng</a:t>
            </a:r>
          </a:p>
          <a:p>
            <a:pPr lvl="1"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Sử dụng câu lệnh DELETE FROM không có WHERE</a:t>
            </a:r>
          </a:p>
          <a:p>
            <a:pPr lvl="1" eaLnBrk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/>
              <a:t>TRUNCATE</a:t>
            </a:r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  <a:p>
            <a:pPr eaLnBrk="1">
              <a:lnSpc>
                <a:spcPct val="100000"/>
              </a:lnSpc>
              <a:buFont typeface="Wingdings" panose="05000000000000000000" pitchFamily="2" charset="2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/>
          </a:p>
        </p:txBody>
      </p:sp>
      <p:pic>
        <p:nvPicPr>
          <p:cNvPr id="1505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3657600"/>
            <a:ext cx="2765425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2" y="1341437"/>
            <a:ext cx="6294437" cy="4718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79" name="Rectangle 2"/>
          <p:cNvSpPr>
            <a:spLocks noGrp="1" noChangeArrowheads="1"/>
          </p:cNvSpPr>
          <p:nvPr>
            <p:ph idx="1"/>
          </p:nvPr>
        </p:nvSpPr>
        <p:spPr>
          <a:xfrm>
            <a:off x="544512" y="274637"/>
            <a:ext cx="9078912" cy="7162800"/>
          </a:xfrm>
        </p:spPr>
        <p:txBody>
          <a:bodyPr>
            <a:normAutofit/>
          </a:bodyPr>
          <a:lstStyle/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/>
              <a:t>Bài tập: Cho CSDL Quản lý bán hàng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6724013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274638"/>
            <a:ext cx="9078912" cy="7162800"/>
          </a:xfrm>
        </p:spPr>
        <p:txBody>
          <a:bodyPr>
            <a:normAutofit/>
          </a:bodyPr>
          <a:lstStyle/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 err="1"/>
              <a:t>Hãy</a:t>
            </a:r>
            <a:r>
              <a:rPr lang="en-GB" sz="2200" dirty="0"/>
              <a:t> </a:t>
            </a:r>
            <a:r>
              <a:rPr lang="en-GB" sz="2200" dirty="0" err="1"/>
              <a:t>viết</a:t>
            </a:r>
            <a:r>
              <a:rPr lang="en-GB" sz="2200" dirty="0"/>
              <a:t> </a:t>
            </a:r>
            <a:r>
              <a:rPr lang="en-GB" sz="2200" dirty="0" err="1"/>
              <a:t>các</a:t>
            </a:r>
            <a:r>
              <a:rPr lang="en-GB" sz="2200" dirty="0"/>
              <a:t> </a:t>
            </a:r>
            <a:r>
              <a:rPr lang="en-GB" sz="2200" dirty="0" err="1"/>
              <a:t>câu</a:t>
            </a:r>
            <a:r>
              <a:rPr lang="en-GB" sz="2200" dirty="0"/>
              <a:t> </a:t>
            </a:r>
            <a:r>
              <a:rPr lang="en-GB" sz="2200" dirty="0" err="1"/>
              <a:t>lệnh</a:t>
            </a:r>
            <a:r>
              <a:rPr lang="en-GB" sz="2200" dirty="0"/>
              <a:t> SQL </a:t>
            </a:r>
            <a:r>
              <a:rPr lang="en-GB" sz="2200" dirty="0" err="1"/>
              <a:t>thực</a:t>
            </a:r>
            <a:r>
              <a:rPr lang="en-GB" sz="2200" dirty="0"/>
              <a:t> </a:t>
            </a:r>
            <a:r>
              <a:rPr lang="en-GB" sz="2200" dirty="0" err="1"/>
              <a:t>hiện</a:t>
            </a:r>
            <a:r>
              <a:rPr lang="en-GB" sz="2200" dirty="0"/>
              <a:t> </a:t>
            </a:r>
            <a:r>
              <a:rPr lang="en-GB" sz="2200" dirty="0" err="1"/>
              <a:t>các</a:t>
            </a:r>
            <a:r>
              <a:rPr lang="en-GB" sz="2200" dirty="0"/>
              <a:t> </a:t>
            </a:r>
            <a:r>
              <a:rPr lang="en-GB" sz="2200" dirty="0" err="1"/>
              <a:t>truy</a:t>
            </a:r>
            <a:r>
              <a:rPr lang="en-GB" sz="2200" dirty="0"/>
              <a:t> </a:t>
            </a:r>
            <a:r>
              <a:rPr lang="en-GB" sz="2200" dirty="0" err="1"/>
              <a:t>vấn</a:t>
            </a:r>
            <a:r>
              <a:rPr lang="en-GB" sz="2200" dirty="0"/>
              <a:t> </a:t>
            </a:r>
            <a:r>
              <a:rPr lang="en-GB" sz="2200" dirty="0" err="1"/>
              <a:t>sau</a:t>
            </a:r>
            <a:r>
              <a:rPr lang="en-GB" sz="2200" dirty="0"/>
              <a:t>: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1. Cho </a:t>
            </a:r>
            <a:r>
              <a:rPr lang="en-GB" sz="2200" dirty="0" err="1"/>
              <a:t>bi</a:t>
            </a:r>
            <a:r>
              <a:rPr lang="en-GB" sz="2200" dirty="0" err="1">
                <a:latin typeface="Times New Roman;Times New Roman" pitchFamily="16" charset="0"/>
              </a:rPr>
              <a:t>ế</a:t>
            </a:r>
            <a:r>
              <a:rPr lang="en-GB" sz="2200" dirty="0" err="1"/>
              <a:t>t</a:t>
            </a:r>
            <a:r>
              <a:rPr lang="en-GB" sz="2200" dirty="0"/>
              <a:t> </a:t>
            </a:r>
            <a:r>
              <a:rPr lang="en-GB" sz="2200" dirty="0" err="1"/>
              <a:t>danh</a:t>
            </a:r>
            <a:r>
              <a:rPr lang="en-GB" sz="2200" dirty="0"/>
              <a:t> </a:t>
            </a:r>
            <a:r>
              <a:rPr lang="en-GB" sz="2200" dirty="0" err="1"/>
              <a:t>sách</a:t>
            </a:r>
            <a:r>
              <a:rPr lang="en-GB" sz="2200" dirty="0"/>
              <a:t> </a:t>
            </a:r>
            <a:r>
              <a:rPr lang="en-GB" sz="2200" dirty="0" err="1"/>
              <a:t>các</a:t>
            </a:r>
            <a:r>
              <a:rPr lang="en-GB" sz="2200" dirty="0"/>
              <a:t> </a:t>
            </a:r>
            <a:r>
              <a:rPr lang="en-GB" sz="2200" dirty="0" err="1">
                <a:latin typeface="Times New Roman;Times New Roman" pitchFamily="16" charset="0"/>
              </a:rPr>
              <a:t>đố</a:t>
            </a:r>
            <a:r>
              <a:rPr lang="en-GB" sz="2200" dirty="0" err="1"/>
              <a:t>i</a:t>
            </a:r>
            <a:r>
              <a:rPr lang="en-GB" sz="2200" dirty="0"/>
              <a:t> </a:t>
            </a:r>
            <a:r>
              <a:rPr lang="en-GB" sz="2200" dirty="0" err="1"/>
              <a:t>tác</a:t>
            </a:r>
            <a:r>
              <a:rPr lang="en-GB" sz="2200" dirty="0"/>
              <a:t> </a:t>
            </a:r>
            <a:r>
              <a:rPr lang="en-GB" sz="2200" dirty="0" err="1"/>
              <a:t>cung</a:t>
            </a:r>
            <a:r>
              <a:rPr lang="en-GB" sz="2200" dirty="0"/>
              <a:t> </a:t>
            </a:r>
            <a:r>
              <a:rPr lang="en-GB" sz="2200" dirty="0" err="1"/>
              <a:t>c</a:t>
            </a:r>
            <a:r>
              <a:rPr lang="en-GB" sz="2200" dirty="0" err="1">
                <a:latin typeface="Times New Roman;Times New Roman" pitchFamily="16" charset="0"/>
              </a:rPr>
              <a:t>ấ</a:t>
            </a:r>
            <a:r>
              <a:rPr lang="en-GB" sz="2200" dirty="0" err="1"/>
              <a:t>p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cho</a:t>
            </a:r>
            <a:r>
              <a:rPr lang="en-GB" sz="2200" dirty="0"/>
              <a:t> </a:t>
            </a:r>
            <a:r>
              <a:rPr lang="en-GB" sz="2200" dirty="0" err="1"/>
              <a:t>công</a:t>
            </a:r>
            <a:r>
              <a:rPr lang="en-GB" sz="2200" dirty="0"/>
              <a:t> </a:t>
            </a:r>
            <a:r>
              <a:rPr lang="en-GB" sz="2200" dirty="0" err="1"/>
              <a:t>ty</a:t>
            </a:r>
            <a:r>
              <a:rPr lang="en-GB" sz="2200" dirty="0"/>
              <a:t>. 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2. </a:t>
            </a:r>
            <a:r>
              <a:rPr lang="en-GB" sz="2200" dirty="0" err="1"/>
              <a:t>Mã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, </a:t>
            </a:r>
            <a:r>
              <a:rPr lang="en-GB" sz="2200" dirty="0" err="1"/>
              <a:t>tên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và</a:t>
            </a:r>
            <a:r>
              <a:rPr lang="en-GB" sz="2200" dirty="0"/>
              <a:t> </a:t>
            </a:r>
            <a:r>
              <a:rPr lang="en-GB" sz="2200" dirty="0" err="1"/>
              <a:t>số</a:t>
            </a:r>
            <a:r>
              <a:rPr lang="en-GB" sz="2200" dirty="0"/>
              <a:t> </a:t>
            </a:r>
            <a:r>
              <a:rPr lang="en-GB" sz="2200" dirty="0" err="1"/>
              <a:t>lượng</a:t>
            </a:r>
            <a:r>
              <a:rPr lang="en-GB" sz="2200" dirty="0"/>
              <a:t> </a:t>
            </a:r>
            <a:r>
              <a:rPr lang="en-GB" sz="2200" dirty="0" err="1"/>
              <a:t>hiện</a:t>
            </a:r>
            <a:r>
              <a:rPr lang="en-GB" sz="2200" dirty="0"/>
              <a:t> </a:t>
            </a:r>
            <a:r>
              <a:rPr lang="en-GB" sz="2200" dirty="0" err="1"/>
              <a:t>có</a:t>
            </a:r>
            <a:r>
              <a:rPr lang="en-GB" sz="2200" dirty="0"/>
              <a:t> </a:t>
            </a:r>
            <a:r>
              <a:rPr lang="en-GB" sz="2200" dirty="0" err="1"/>
              <a:t>trong</a:t>
            </a:r>
            <a:r>
              <a:rPr lang="en-GB" sz="2200" dirty="0"/>
              <a:t> </a:t>
            </a:r>
            <a:r>
              <a:rPr lang="en-GB" sz="2200" dirty="0" err="1"/>
              <a:t>công</a:t>
            </a:r>
            <a:r>
              <a:rPr lang="en-GB" sz="2200" dirty="0"/>
              <a:t> </a:t>
            </a:r>
            <a:r>
              <a:rPr lang="en-GB" sz="2200" dirty="0" err="1"/>
              <a:t>ty</a:t>
            </a:r>
            <a:endParaRPr lang="en-GB" sz="2200" dirty="0"/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3. </a:t>
            </a:r>
            <a:r>
              <a:rPr lang="en-GB" sz="2200" dirty="0" err="1"/>
              <a:t>Địa</a:t>
            </a:r>
            <a:r>
              <a:rPr lang="en-GB" sz="2200" dirty="0"/>
              <a:t> </a:t>
            </a:r>
            <a:r>
              <a:rPr lang="en-GB" sz="2200" dirty="0" err="1"/>
              <a:t>chỉ</a:t>
            </a:r>
            <a:r>
              <a:rPr lang="en-GB" sz="2200" dirty="0"/>
              <a:t>, </a:t>
            </a:r>
            <a:r>
              <a:rPr lang="en-GB" sz="2200" dirty="0" err="1"/>
              <a:t>số</a:t>
            </a:r>
            <a:r>
              <a:rPr lang="en-GB" sz="2200" dirty="0"/>
              <a:t> </a:t>
            </a:r>
            <a:r>
              <a:rPr lang="en-GB" sz="2200" dirty="0" err="1"/>
              <a:t>điện</a:t>
            </a:r>
            <a:r>
              <a:rPr lang="en-GB" sz="2200" dirty="0"/>
              <a:t> </a:t>
            </a:r>
            <a:r>
              <a:rPr lang="en-GB" sz="2200" dirty="0" err="1"/>
              <a:t>thoại</a:t>
            </a:r>
            <a:r>
              <a:rPr lang="en-GB" sz="2200" dirty="0"/>
              <a:t> </a:t>
            </a:r>
            <a:r>
              <a:rPr lang="en-GB" sz="2200" dirty="0" err="1"/>
              <a:t>của</a:t>
            </a:r>
            <a:r>
              <a:rPr lang="en-GB" sz="2200" dirty="0"/>
              <a:t> </a:t>
            </a:r>
            <a:r>
              <a:rPr lang="en-GB" sz="2200" dirty="0" err="1"/>
              <a:t>nhà</a:t>
            </a:r>
            <a:r>
              <a:rPr lang="en-GB" sz="2200" dirty="0"/>
              <a:t> </a:t>
            </a:r>
            <a:r>
              <a:rPr lang="en-GB" sz="2200" dirty="0" err="1"/>
              <a:t>cung</a:t>
            </a:r>
            <a:r>
              <a:rPr lang="en-GB" sz="2200" dirty="0"/>
              <a:t> </a:t>
            </a:r>
            <a:r>
              <a:rPr lang="en-GB" sz="2200" dirty="0" err="1"/>
              <a:t>cấp</a:t>
            </a:r>
            <a:r>
              <a:rPr lang="en-GB" sz="2200" dirty="0"/>
              <a:t> </a:t>
            </a:r>
            <a:r>
              <a:rPr lang="en-GB" sz="2200" dirty="0" err="1"/>
              <a:t>có</a:t>
            </a:r>
            <a:r>
              <a:rPr lang="en-GB" sz="2200" dirty="0"/>
              <a:t> </a:t>
            </a:r>
            <a:r>
              <a:rPr lang="en-GB" sz="2200" dirty="0" err="1"/>
              <a:t>tên</a:t>
            </a:r>
            <a:r>
              <a:rPr lang="en-GB" sz="2200" dirty="0"/>
              <a:t> </a:t>
            </a:r>
            <a:r>
              <a:rPr lang="en-GB" sz="2200" dirty="0" err="1"/>
              <a:t>giao</a:t>
            </a:r>
            <a:r>
              <a:rPr lang="en-GB" sz="2200" dirty="0"/>
              <a:t> </a:t>
            </a:r>
            <a:r>
              <a:rPr lang="en-GB" sz="2200" dirty="0" err="1"/>
              <a:t>dịch</a:t>
            </a:r>
            <a:r>
              <a:rPr lang="en-GB" sz="2200" dirty="0"/>
              <a:t> VINAMILK </a:t>
            </a:r>
            <a:r>
              <a:rPr lang="en-GB" sz="2200" dirty="0" err="1"/>
              <a:t>là</a:t>
            </a:r>
            <a:r>
              <a:rPr lang="en-GB" sz="2200" dirty="0"/>
              <a:t> </a:t>
            </a:r>
            <a:r>
              <a:rPr lang="en-GB" sz="2200" dirty="0" err="1"/>
              <a:t>gì</a:t>
            </a:r>
            <a:r>
              <a:rPr lang="en-GB" sz="2200" dirty="0"/>
              <a:t>?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4. Cho </a:t>
            </a:r>
            <a:r>
              <a:rPr lang="en-GB" sz="2200" dirty="0" err="1"/>
              <a:t>biết</a:t>
            </a:r>
            <a:r>
              <a:rPr lang="en-GB" sz="2200" dirty="0"/>
              <a:t> </a:t>
            </a:r>
            <a:r>
              <a:rPr lang="en-GB" sz="2200" dirty="0" err="1"/>
              <a:t>mã</a:t>
            </a:r>
            <a:r>
              <a:rPr lang="en-GB" sz="2200" dirty="0"/>
              <a:t> </a:t>
            </a:r>
            <a:r>
              <a:rPr lang="en-GB" sz="2200" dirty="0" err="1"/>
              <a:t>và</a:t>
            </a:r>
            <a:r>
              <a:rPr lang="en-GB" sz="2200" dirty="0"/>
              <a:t> </a:t>
            </a:r>
            <a:r>
              <a:rPr lang="en-GB" sz="2200" dirty="0" err="1"/>
              <a:t>tên</a:t>
            </a:r>
            <a:r>
              <a:rPr lang="en-GB" sz="2200" dirty="0"/>
              <a:t> </a:t>
            </a:r>
            <a:r>
              <a:rPr lang="en-GB" sz="2200" dirty="0" err="1"/>
              <a:t>các</a:t>
            </a:r>
            <a:r>
              <a:rPr lang="en-GB" sz="2200" dirty="0"/>
              <a:t> </a:t>
            </a:r>
            <a:r>
              <a:rPr lang="en-GB" sz="2200" dirty="0" err="1"/>
              <a:t>mặt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có</a:t>
            </a:r>
            <a:r>
              <a:rPr lang="en-GB" sz="2200" dirty="0"/>
              <a:t> </a:t>
            </a:r>
            <a:r>
              <a:rPr lang="en-GB" sz="2200" dirty="0" err="1"/>
              <a:t>giá</a:t>
            </a:r>
            <a:r>
              <a:rPr lang="en-GB" sz="2200" dirty="0"/>
              <a:t> </a:t>
            </a:r>
            <a:r>
              <a:rPr lang="en-GB" sz="2200" dirty="0" err="1"/>
              <a:t>lơn</a:t>
            </a:r>
            <a:r>
              <a:rPr lang="en-GB" sz="2200" dirty="0"/>
              <a:t> </a:t>
            </a:r>
            <a:r>
              <a:rPr lang="en-GB" sz="2200" dirty="0" err="1"/>
              <a:t>hơn</a:t>
            </a:r>
            <a:r>
              <a:rPr lang="en-GB" sz="2200" dirty="0"/>
              <a:t> 100000 </a:t>
            </a:r>
            <a:r>
              <a:rPr lang="en-GB" sz="2200" dirty="0" err="1"/>
              <a:t>và</a:t>
            </a:r>
            <a:r>
              <a:rPr lang="en-GB" sz="2200" dirty="0"/>
              <a:t> </a:t>
            </a:r>
            <a:r>
              <a:rPr lang="en-GB" sz="2200" dirty="0" err="1"/>
              <a:t>số</a:t>
            </a:r>
            <a:r>
              <a:rPr lang="en-GB" sz="2200" dirty="0"/>
              <a:t> </a:t>
            </a:r>
            <a:r>
              <a:rPr lang="en-GB" sz="2200" dirty="0" err="1"/>
              <a:t>lượng</a:t>
            </a:r>
            <a:r>
              <a:rPr lang="en-GB" sz="2200" dirty="0"/>
              <a:t> </a:t>
            </a:r>
            <a:r>
              <a:rPr lang="en-GB" sz="2200" dirty="0" err="1"/>
              <a:t>hiện</a:t>
            </a:r>
            <a:r>
              <a:rPr lang="en-GB" sz="2200" dirty="0"/>
              <a:t> </a:t>
            </a:r>
            <a:r>
              <a:rPr lang="en-GB" sz="2200" dirty="0" err="1"/>
              <a:t>có</a:t>
            </a:r>
            <a:r>
              <a:rPr lang="en-GB" sz="2200" dirty="0"/>
              <a:t> </a:t>
            </a:r>
            <a:r>
              <a:rPr lang="en-GB" sz="2200" dirty="0" err="1"/>
              <a:t>ít</a:t>
            </a:r>
            <a:r>
              <a:rPr lang="en-GB" sz="2200" dirty="0"/>
              <a:t> </a:t>
            </a:r>
            <a:r>
              <a:rPr lang="en-GB" sz="2200" dirty="0" err="1"/>
              <a:t>hơn</a:t>
            </a:r>
            <a:r>
              <a:rPr lang="en-GB" sz="2200" dirty="0"/>
              <a:t> 50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5. </a:t>
            </a:r>
            <a:r>
              <a:rPr lang="en-GB" sz="2200" dirty="0" err="1"/>
              <a:t>Đơn</a:t>
            </a:r>
            <a:r>
              <a:rPr lang="en-GB" sz="2200" dirty="0"/>
              <a:t> </a:t>
            </a:r>
            <a:r>
              <a:rPr lang="en-GB" sz="2200" dirty="0" err="1"/>
              <a:t>đặt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số</a:t>
            </a:r>
            <a:r>
              <a:rPr lang="en-GB" sz="2200" dirty="0"/>
              <a:t> 1 do </a:t>
            </a:r>
            <a:r>
              <a:rPr lang="en-GB" sz="2200" dirty="0" err="1"/>
              <a:t>ai</a:t>
            </a:r>
            <a:r>
              <a:rPr lang="en-GB" sz="2200" dirty="0"/>
              <a:t> </a:t>
            </a:r>
            <a:r>
              <a:rPr lang="en-GB" sz="2200" dirty="0" err="1"/>
              <a:t>đặt</a:t>
            </a:r>
            <a:r>
              <a:rPr lang="en-GB" sz="2200" dirty="0"/>
              <a:t>, do </a:t>
            </a:r>
            <a:r>
              <a:rPr lang="en-GB" sz="2200" dirty="0" err="1"/>
              <a:t>nhân</a:t>
            </a:r>
            <a:r>
              <a:rPr lang="en-GB" sz="2200" dirty="0"/>
              <a:t> </a:t>
            </a:r>
            <a:r>
              <a:rPr lang="en-GB" sz="2200" dirty="0" err="1"/>
              <a:t>viên</a:t>
            </a:r>
            <a:r>
              <a:rPr lang="en-GB" sz="2200" dirty="0"/>
              <a:t> </a:t>
            </a:r>
            <a:r>
              <a:rPr lang="en-GB" sz="2200" dirty="0" err="1"/>
              <a:t>nào</a:t>
            </a:r>
            <a:r>
              <a:rPr lang="en-GB" sz="2200" dirty="0"/>
              <a:t> </a:t>
            </a:r>
            <a:r>
              <a:rPr lang="en-GB" sz="2200" dirty="0" err="1"/>
              <a:t>lập</a:t>
            </a:r>
            <a:r>
              <a:rPr lang="en-GB" sz="2200" dirty="0"/>
              <a:t>, </a:t>
            </a:r>
            <a:r>
              <a:rPr lang="en-GB" sz="2200" dirty="0" err="1"/>
              <a:t>thời</a:t>
            </a:r>
            <a:r>
              <a:rPr lang="en-GB" sz="2200" dirty="0"/>
              <a:t> </a:t>
            </a:r>
            <a:r>
              <a:rPr lang="en-GB" sz="2200" dirty="0" err="1"/>
              <a:t>gian</a:t>
            </a:r>
            <a:r>
              <a:rPr lang="en-GB" sz="2200" dirty="0"/>
              <a:t> </a:t>
            </a:r>
            <a:r>
              <a:rPr lang="en-GB" sz="2200" dirty="0" err="1"/>
              <a:t>và</a:t>
            </a:r>
            <a:r>
              <a:rPr lang="en-GB" sz="2200" dirty="0"/>
              <a:t> </a:t>
            </a:r>
            <a:r>
              <a:rPr lang="en-GB" sz="2200" dirty="0" err="1"/>
              <a:t>địa</a:t>
            </a:r>
            <a:r>
              <a:rPr lang="en-GB" sz="2200" dirty="0"/>
              <a:t> </a:t>
            </a:r>
            <a:r>
              <a:rPr lang="en-GB" sz="2200" dirty="0" err="1"/>
              <a:t>điểm</a:t>
            </a:r>
            <a:r>
              <a:rPr lang="en-GB" sz="2200" dirty="0"/>
              <a:t> </a:t>
            </a:r>
            <a:r>
              <a:rPr lang="en-GB" sz="2200" dirty="0" err="1"/>
              <a:t>giao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ở </a:t>
            </a:r>
            <a:r>
              <a:rPr lang="en-GB" sz="2200" dirty="0" err="1"/>
              <a:t>đâu</a:t>
            </a:r>
            <a:r>
              <a:rPr lang="en-GB" sz="2200" dirty="0"/>
              <a:t>?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6. </a:t>
            </a:r>
            <a:r>
              <a:rPr lang="en-GB" sz="2200" dirty="0" err="1"/>
              <a:t>Hiển</a:t>
            </a:r>
            <a:r>
              <a:rPr lang="en-GB" sz="2200" dirty="0"/>
              <a:t> </a:t>
            </a:r>
            <a:r>
              <a:rPr lang="en-GB" sz="2200" dirty="0" err="1"/>
              <a:t>thị</a:t>
            </a:r>
            <a:r>
              <a:rPr lang="en-GB" sz="2200" dirty="0"/>
              <a:t> </a:t>
            </a:r>
            <a:r>
              <a:rPr lang="en-GB" sz="2200" dirty="0" err="1"/>
              <a:t>những</a:t>
            </a:r>
            <a:r>
              <a:rPr lang="en-GB" sz="2200" dirty="0"/>
              <a:t> </a:t>
            </a:r>
            <a:r>
              <a:rPr lang="en-GB" sz="2200" dirty="0" err="1"/>
              <a:t>nhân</a:t>
            </a:r>
            <a:r>
              <a:rPr lang="en-GB" sz="2200" dirty="0"/>
              <a:t> </a:t>
            </a:r>
            <a:r>
              <a:rPr lang="en-GB" sz="2200" dirty="0" err="1"/>
              <a:t>viên</a:t>
            </a:r>
            <a:r>
              <a:rPr lang="en-GB" sz="2200" dirty="0"/>
              <a:t> </a:t>
            </a:r>
            <a:r>
              <a:rPr lang="en-GB" sz="2200" dirty="0" err="1"/>
              <a:t>có</a:t>
            </a:r>
            <a:r>
              <a:rPr lang="en-GB" sz="2200" dirty="0"/>
              <a:t> </a:t>
            </a:r>
            <a:r>
              <a:rPr lang="en-GB" sz="2200" dirty="0" err="1"/>
              <a:t>lương</a:t>
            </a:r>
            <a:r>
              <a:rPr lang="en-GB" sz="2200" dirty="0"/>
              <a:t> </a:t>
            </a:r>
            <a:r>
              <a:rPr lang="en-GB" sz="2200" dirty="0" err="1"/>
              <a:t>cơ</a:t>
            </a:r>
            <a:r>
              <a:rPr lang="en-GB" sz="2200" dirty="0"/>
              <a:t> </a:t>
            </a:r>
            <a:r>
              <a:rPr lang="en-GB" sz="2200" dirty="0" err="1"/>
              <a:t>bản</a:t>
            </a:r>
            <a:r>
              <a:rPr lang="en-GB" sz="2200" dirty="0"/>
              <a:t> </a:t>
            </a:r>
            <a:r>
              <a:rPr lang="en-GB" sz="2200" dirty="0" err="1"/>
              <a:t>cao</a:t>
            </a:r>
            <a:r>
              <a:rPr lang="en-GB" sz="2200" dirty="0"/>
              <a:t> </a:t>
            </a:r>
            <a:r>
              <a:rPr lang="en-GB" sz="2200" dirty="0" err="1"/>
              <a:t>nhất</a:t>
            </a:r>
            <a:r>
              <a:rPr lang="en-GB" sz="2200" dirty="0"/>
              <a:t> </a:t>
            </a:r>
            <a:r>
              <a:rPr lang="en-GB" sz="2200" dirty="0" err="1"/>
              <a:t>công</a:t>
            </a:r>
            <a:r>
              <a:rPr lang="en-GB" sz="2200" dirty="0"/>
              <a:t> </a:t>
            </a:r>
            <a:r>
              <a:rPr lang="en-GB" sz="2200" dirty="0" err="1"/>
              <a:t>ty</a:t>
            </a:r>
            <a:endParaRPr lang="en-GB" sz="2200" dirty="0"/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7. </a:t>
            </a:r>
            <a:r>
              <a:rPr lang="en-GB" sz="2200" dirty="0" err="1"/>
              <a:t>Nhân</a:t>
            </a:r>
            <a:r>
              <a:rPr lang="en-GB" sz="2200" dirty="0"/>
              <a:t> </a:t>
            </a:r>
            <a:r>
              <a:rPr lang="en-GB" sz="2200" dirty="0" err="1"/>
              <a:t>viên</a:t>
            </a:r>
            <a:r>
              <a:rPr lang="en-GB" sz="2200" dirty="0"/>
              <a:t> </a:t>
            </a:r>
            <a:r>
              <a:rPr lang="en-GB" sz="2200" dirty="0" err="1"/>
              <a:t>nào</a:t>
            </a:r>
            <a:r>
              <a:rPr lang="en-GB" sz="2200" dirty="0"/>
              <a:t> </a:t>
            </a:r>
            <a:r>
              <a:rPr lang="en-GB" sz="2200" dirty="0" err="1"/>
              <a:t>trong</a:t>
            </a:r>
            <a:r>
              <a:rPr lang="en-GB" sz="2200" dirty="0"/>
              <a:t> </a:t>
            </a:r>
            <a:r>
              <a:rPr lang="en-GB" sz="2200" dirty="0" err="1"/>
              <a:t>công</a:t>
            </a:r>
            <a:r>
              <a:rPr lang="en-GB" sz="2200" dirty="0"/>
              <a:t> </a:t>
            </a:r>
            <a:r>
              <a:rPr lang="en-GB" sz="2200" dirty="0" err="1"/>
              <a:t>ty</a:t>
            </a:r>
            <a:r>
              <a:rPr lang="en-GB" sz="2200" dirty="0"/>
              <a:t> </a:t>
            </a:r>
            <a:r>
              <a:rPr lang="en-GB" sz="2200" dirty="0" err="1"/>
              <a:t>bán</a:t>
            </a:r>
            <a:r>
              <a:rPr lang="en-GB" sz="2200" dirty="0"/>
              <a:t> </a:t>
            </a:r>
            <a:r>
              <a:rPr lang="en-GB" sz="2200" dirty="0" err="1"/>
              <a:t>được</a:t>
            </a:r>
            <a:r>
              <a:rPr lang="en-GB" sz="2200" dirty="0"/>
              <a:t> </a:t>
            </a:r>
            <a:r>
              <a:rPr lang="en-GB" sz="2200" dirty="0" err="1"/>
              <a:t>nhiều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nhất</a:t>
            </a:r>
            <a:r>
              <a:rPr lang="en-GB" sz="2200" dirty="0"/>
              <a:t> </a:t>
            </a:r>
            <a:r>
              <a:rPr lang="en-GB" sz="2200" dirty="0" err="1"/>
              <a:t>và</a:t>
            </a:r>
            <a:r>
              <a:rPr lang="en-GB" sz="2200" dirty="0"/>
              <a:t> </a:t>
            </a:r>
            <a:r>
              <a:rPr lang="en-GB" sz="2200" dirty="0" err="1"/>
              <a:t>số</a:t>
            </a:r>
            <a:r>
              <a:rPr lang="en-GB" sz="2200" dirty="0"/>
              <a:t> </a:t>
            </a:r>
            <a:r>
              <a:rPr lang="en-GB" sz="2200" dirty="0" err="1"/>
              <a:t>lượng</a:t>
            </a:r>
            <a:r>
              <a:rPr lang="en-GB" sz="2200" dirty="0"/>
              <a:t> </a:t>
            </a:r>
            <a:r>
              <a:rPr lang="en-GB" sz="2200" dirty="0" err="1"/>
              <a:t>bán</a:t>
            </a:r>
            <a:r>
              <a:rPr lang="en-GB" sz="2200" dirty="0"/>
              <a:t> </a:t>
            </a:r>
            <a:r>
              <a:rPr lang="en-GB" sz="2200" dirty="0" err="1"/>
              <a:t>được</a:t>
            </a:r>
            <a:r>
              <a:rPr lang="en-GB" sz="2200" dirty="0"/>
              <a:t> </a:t>
            </a:r>
            <a:r>
              <a:rPr lang="en-GB" sz="2200" dirty="0" err="1"/>
              <a:t>là</a:t>
            </a:r>
            <a:r>
              <a:rPr lang="en-GB" sz="2200" dirty="0"/>
              <a:t> </a:t>
            </a:r>
            <a:r>
              <a:rPr lang="en-GB" sz="2200" dirty="0" err="1"/>
              <a:t>bao</a:t>
            </a:r>
            <a:r>
              <a:rPr lang="en-GB" sz="2200" dirty="0"/>
              <a:t> </a:t>
            </a:r>
            <a:r>
              <a:rPr lang="en-GB" sz="2200" dirty="0" err="1"/>
              <a:t>nhiêu</a:t>
            </a:r>
            <a:r>
              <a:rPr lang="en-GB" sz="2200" dirty="0"/>
              <a:t>?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8. </a:t>
            </a:r>
            <a:r>
              <a:rPr lang="en-GB" sz="2200" dirty="0" err="1"/>
              <a:t>Hãy</a:t>
            </a:r>
            <a:r>
              <a:rPr lang="en-GB" sz="2200" dirty="0"/>
              <a:t> </a:t>
            </a:r>
            <a:r>
              <a:rPr lang="en-GB" sz="2200" dirty="0" err="1"/>
              <a:t>cho</a:t>
            </a:r>
            <a:r>
              <a:rPr lang="en-GB" sz="2200" dirty="0"/>
              <a:t> </a:t>
            </a:r>
            <a:r>
              <a:rPr lang="en-GB" sz="2200" dirty="0" err="1"/>
              <a:t>biết</a:t>
            </a:r>
            <a:r>
              <a:rPr lang="en-GB" sz="2200" dirty="0"/>
              <a:t> </a:t>
            </a:r>
            <a:r>
              <a:rPr lang="en-GB" sz="2200" dirty="0" err="1"/>
              <a:t>tổng</a:t>
            </a:r>
            <a:r>
              <a:rPr lang="en-GB" sz="2200" dirty="0"/>
              <a:t> </a:t>
            </a:r>
            <a:r>
              <a:rPr lang="en-GB" sz="2200" dirty="0" err="1"/>
              <a:t>số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của</a:t>
            </a:r>
            <a:r>
              <a:rPr lang="en-GB" sz="2200" dirty="0"/>
              <a:t> </a:t>
            </a:r>
            <a:r>
              <a:rPr lang="en-GB" sz="2200" dirty="0" err="1"/>
              <a:t>mỗi</a:t>
            </a:r>
            <a:r>
              <a:rPr lang="en-GB" sz="2200" dirty="0"/>
              <a:t> </a:t>
            </a:r>
            <a:r>
              <a:rPr lang="en-GB" sz="2200" dirty="0" err="1"/>
              <a:t>loại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endParaRPr lang="en-GB" sz="2200" dirty="0"/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9. </a:t>
            </a:r>
            <a:r>
              <a:rPr lang="en-GB" sz="2200" dirty="0" err="1"/>
              <a:t>Tăng</a:t>
            </a:r>
            <a:r>
              <a:rPr lang="en-GB" sz="2200" dirty="0"/>
              <a:t> </a:t>
            </a:r>
            <a:r>
              <a:rPr lang="en-GB" sz="2200" dirty="0" err="1"/>
              <a:t>lương</a:t>
            </a:r>
            <a:r>
              <a:rPr lang="en-GB" sz="2200" dirty="0"/>
              <a:t> </a:t>
            </a:r>
            <a:r>
              <a:rPr lang="en-GB" sz="2200" dirty="0" err="1"/>
              <a:t>lên</a:t>
            </a:r>
            <a:r>
              <a:rPr lang="en-GB" sz="2200" dirty="0"/>
              <a:t> 50% </a:t>
            </a:r>
            <a:r>
              <a:rPr lang="en-GB" sz="2200" dirty="0" err="1"/>
              <a:t>cho</a:t>
            </a:r>
            <a:r>
              <a:rPr lang="en-GB" sz="2200" dirty="0"/>
              <a:t> </a:t>
            </a:r>
            <a:r>
              <a:rPr lang="en-GB" sz="2200" dirty="0" err="1"/>
              <a:t>những</a:t>
            </a:r>
            <a:r>
              <a:rPr lang="en-GB" sz="2200" dirty="0"/>
              <a:t> </a:t>
            </a:r>
            <a:r>
              <a:rPr lang="en-GB" sz="2200" dirty="0" err="1"/>
              <a:t>nhân</a:t>
            </a:r>
            <a:r>
              <a:rPr lang="en-GB" sz="2200" dirty="0"/>
              <a:t> </a:t>
            </a:r>
            <a:r>
              <a:rPr lang="en-GB" sz="2200" dirty="0" err="1"/>
              <a:t>viên</a:t>
            </a:r>
            <a:r>
              <a:rPr lang="en-GB" sz="2200" dirty="0"/>
              <a:t> </a:t>
            </a:r>
            <a:r>
              <a:rPr lang="en-GB" sz="2200" dirty="0" err="1"/>
              <a:t>bán</a:t>
            </a:r>
            <a:r>
              <a:rPr lang="en-GB" sz="2200" dirty="0"/>
              <a:t> </a:t>
            </a:r>
            <a:r>
              <a:rPr lang="en-GB" sz="2200" dirty="0" err="1"/>
              <a:t>được</a:t>
            </a:r>
            <a:r>
              <a:rPr lang="en-GB" sz="2200" dirty="0"/>
              <a:t> </a:t>
            </a:r>
            <a:r>
              <a:rPr lang="en-GB" sz="2200" dirty="0" err="1"/>
              <a:t>số</a:t>
            </a:r>
            <a:r>
              <a:rPr lang="en-GB" sz="2200" dirty="0"/>
              <a:t> </a:t>
            </a:r>
            <a:r>
              <a:rPr lang="en-GB" sz="2200" dirty="0" err="1"/>
              <a:t>lượng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&gt;=100 </a:t>
            </a:r>
            <a:r>
              <a:rPr lang="en-GB" sz="2200" dirty="0" err="1"/>
              <a:t>trong</a:t>
            </a:r>
            <a:r>
              <a:rPr lang="en-GB" sz="2200" dirty="0"/>
              <a:t> </a:t>
            </a:r>
            <a:r>
              <a:rPr lang="en-GB" sz="2200" dirty="0" err="1"/>
              <a:t>năm</a:t>
            </a:r>
            <a:r>
              <a:rPr lang="en-GB" sz="2200" dirty="0"/>
              <a:t> 2021.</a:t>
            </a:r>
          </a:p>
          <a:p>
            <a:pPr marL="0" indent="0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10. </a:t>
            </a:r>
            <a:r>
              <a:rPr lang="en-GB" sz="2200" dirty="0" err="1"/>
              <a:t>Xóa</a:t>
            </a:r>
            <a:r>
              <a:rPr lang="en-GB" sz="2200" dirty="0"/>
              <a:t> </a:t>
            </a:r>
            <a:r>
              <a:rPr lang="en-GB" sz="2200" dirty="0" err="1"/>
              <a:t>những</a:t>
            </a:r>
            <a:r>
              <a:rPr lang="en-GB" sz="2200" dirty="0"/>
              <a:t> </a:t>
            </a:r>
            <a:r>
              <a:rPr lang="en-GB" sz="2200" dirty="0" err="1"/>
              <a:t>đơn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có</a:t>
            </a:r>
            <a:r>
              <a:rPr lang="en-GB" sz="2200" dirty="0"/>
              <a:t> </a:t>
            </a:r>
            <a:r>
              <a:rPr lang="en-GB" sz="2200" dirty="0" err="1"/>
              <a:t>ngày</a:t>
            </a:r>
            <a:r>
              <a:rPr lang="en-GB" sz="2200" dirty="0"/>
              <a:t> </a:t>
            </a:r>
            <a:r>
              <a:rPr lang="en-GB" sz="2200" dirty="0" err="1"/>
              <a:t>đặt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trước</a:t>
            </a:r>
            <a:r>
              <a:rPr lang="en-GB" sz="2200" dirty="0"/>
              <a:t> </a:t>
            </a:r>
            <a:r>
              <a:rPr lang="en-GB" sz="2200" dirty="0" err="1"/>
              <a:t>năm</a:t>
            </a:r>
            <a:r>
              <a:rPr lang="en-GB" sz="2200"/>
              <a:t> 2020 </a:t>
            </a:r>
            <a:r>
              <a:rPr lang="en-GB" sz="2200" dirty="0" err="1"/>
              <a:t>ra</a:t>
            </a:r>
            <a:r>
              <a:rPr lang="en-GB" sz="2200" dirty="0"/>
              <a:t> </a:t>
            </a:r>
            <a:r>
              <a:rPr lang="en-GB" sz="2200" dirty="0" err="1"/>
              <a:t>khỏi</a:t>
            </a:r>
            <a:r>
              <a:rPr lang="en-GB" sz="2200" dirty="0"/>
              <a:t> CSDL</a:t>
            </a:r>
          </a:p>
          <a:p>
            <a:pPr marL="0" indent="0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 dirty="0"/>
              <a:t>11.Xóa </a:t>
            </a:r>
            <a:r>
              <a:rPr lang="en-GB" sz="2200" dirty="0" err="1"/>
              <a:t>khỏi</a:t>
            </a:r>
            <a:r>
              <a:rPr lang="en-GB" sz="2200" dirty="0"/>
              <a:t> </a:t>
            </a:r>
            <a:r>
              <a:rPr lang="en-GB" sz="2200" dirty="0" err="1"/>
              <a:t>bảng</a:t>
            </a:r>
            <a:r>
              <a:rPr lang="en-GB" sz="2200" dirty="0"/>
              <a:t> NHANVIEN </a:t>
            </a:r>
            <a:r>
              <a:rPr lang="en-GB" sz="2200" dirty="0" err="1"/>
              <a:t>những</a:t>
            </a:r>
            <a:r>
              <a:rPr lang="en-GB" sz="2200" dirty="0"/>
              <a:t> </a:t>
            </a:r>
            <a:r>
              <a:rPr lang="en-GB" sz="2200" dirty="0" err="1"/>
              <a:t>nhân</a:t>
            </a:r>
            <a:r>
              <a:rPr lang="en-GB" sz="2200" dirty="0"/>
              <a:t> </a:t>
            </a:r>
            <a:r>
              <a:rPr lang="en-GB" sz="2200" dirty="0" err="1"/>
              <a:t>viên</a:t>
            </a:r>
            <a:r>
              <a:rPr lang="en-GB" sz="2200" dirty="0"/>
              <a:t> </a:t>
            </a:r>
            <a:r>
              <a:rPr lang="en-GB" sz="2200" dirty="0" err="1"/>
              <a:t>đã</a:t>
            </a:r>
            <a:r>
              <a:rPr lang="en-GB" sz="2200" dirty="0"/>
              <a:t> </a:t>
            </a:r>
            <a:r>
              <a:rPr lang="en-GB" sz="2200" dirty="0" err="1"/>
              <a:t>làm</a:t>
            </a:r>
            <a:r>
              <a:rPr lang="en-GB" sz="2200" dirty="0"/>
              <a:t> </a:t>
            </a:r>
            <a:r>
              <a:rPr lang="en-GB" sz="2200" dirty="0" err="1"/>
              <a:t>việc</a:t>
            </a:r>
            <a:r>
              <a:rPr lang="en-GB" sz="2200" dirty="0"/>
              <a:t> </a:t>
            </a:r>
            <a:r>
              <a:rPr lang="en-GB" sz="2200" dirty="0" err="1"/>
              <a:t>cho</a:t>
            </a:r>
            <a:r>
              <a:rPr lang="en-GB" sz="2200" dirty="0"/>
              <a:t> </a:t>
            </a:r>
            <a:r>
              <a:rPr lang="en-GB" sz="2200" dirty="0" err="1"/>
              <a:t>công</a:t>
            </a:r>
            <a:r>
              <a:rPr lang="en-GB" sz="2200" dirty="0"/>
              <a:t> ty </a:t>
            </a:r>
            <a:r>
              <a:rPr lang="en-GB" sz="2200" dirty="0" err="1"/>
              <a:t>trên</a:t>
            </a:r>
            <a:r>
              <a:rPr lang="en-GB" sz="2200" dirty="0"/>
              <a:t> 40 </a:t>
            </a:r>
            <a:r>
              <a:rPr lang="en-GB" sz="2200" dirty="0" err="1"/>
              <a:t>năm</a:t>
            </a:r>
            <a:endParaRPr lang="en-GB" sz="22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"/>
          <p:cNvSpPr>
            <a:spLocks noGrp="1" noChangeArrowheads="1"/>
          </p:cNvSpPr>
          <p:nvPr>
            <p:ph type="title"/>
          </p:nvPr>
        </p:nvSpPr>
        <p:spPr>
          <a:xfrm>
            <a:off x="741363" y="327025"/>
            <a:ext cx="8601075" cy="1165225"/>
          </a:xfrm>
        </p:spPr>
        <p:txBody>
          <a:bodyPr/>
          <a:lstStyle/>
          <a:p>
            <a:pPr eaLnBrk="1">
              <a:lnSpc>
                <a:spcPct val="93000"/>
              </a:lnSpc>
              <a:spcBef>
                <a:spcPts val="438"/>
              </a:spcBef>
              <a:spcAft>
                <a:spcPts val="575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err="1"/>
              <a:t>Bài</a:t>
            </a:r>
            <a:r>
              <a:rPr lang="en-GB" dirty="0"/>
              <a:t> </a:t>
            </a:r>
            <a:r>
              <a:rPr lang="en-GB" dirty="0" err="1"/>
              <a:t>tập</a:t>
            </a:r>
            <a:endParaRPr lang="en-GB" dirty="0"/>
          </a:p>
        </p:txBody>
      </p:sp>
      <p:sp>
        <p:nvSpPr>
          <p:cNvPr id="154627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764588" cy="5202238"/>
          </a:xfrm>
        </p:spPr>
        <p:txBody>
          <a:bodyPr/>
          <a:lstStyle/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/>
              <a:t>12. </a:t>
            </a:r>
            <a:r>
              <a:rPr lang="en-GB" sz="2200" dirty="0" err="1"/>
              <a:t>Xóa</a:t>
            </a:r>
            <a:r>
              <a:rPr lang="en-GB" sz="2200" dirty="0"/>
              <a:t> </a:t>
            </a:r>
            <a:r>
              <a:rPr lang="en-GB" sz="2200" dirty="0" err="1"/>
              <a:t>những</a:t>
            </a:r>
            <a:r>
              <a:rPr lang="en-GB" sz="2200" dirty="0"/>
              <a:t> </a:t>
            </a:r>
            <a:r>
              <a:rPr lang="en-GB" sz="2200" dirty="0" err="1"/>
              <a:t>đơn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có</a:t>
            </a:r>
            <a:r>
              <a:rPr lang="en-GB" sz="2200" dirty="0"/>
              <a:t> </a:t>
            </a:r>
            <a:r>
              <a:rPr lang="en-GB" sz="2200" dirty="0" err="1"/>
              <a:t>ngày</a:t>
            </a:r>
            <a:r>
              <a:rPr lang="en-GB" sz="2200" dirty="0"/>
              <a:t> </a:t>
            </a:r>
            <a:r>
              <a:rPr lang="en-GB" sz="2200" dirty="0" err="1"/>
              <a:t>đặt</a:t>
            </a:r>
            <a:r>
              <a:rPr lang="en-GB" sz="2200" dirty="0"/>
              <a:t> </a:t>
            </a:r>
            <a:r>
              <a:rPr lang="en-GB" sz="2200" dirty="0" err="1"/>
              <a:t>hàng</a:t>
            </a:r>
            <a:r>
              <a:rPr lang="en-GB" sz="2200" dirty="0"/>
              <a:t> </a:t>
            </a:r>
            <a:r>
              <a:rPr lang="en-GB" sz="2200" dirty="0" err="1"/>
              <a:t>trước</a:t>
            </a:r>
            <a:r>
              <a:rPr lang="en-GB" sz="2200" dirty="0"/>
              <a:t> </a:t>
            </a:r>
            <a:r>
              <a:rPr lang="en-GB" sz="2200" dirty="0" err="1"/>
              <a:t>năm</a:t>
            </a:r>
            <a:r>
              <a:rPr lang="en-GB" sz="2200" dirty="0"/>
              <a:t> 2005 </a:t>
            </a:r>
            <a:r>
              <a:rPr lang="en-GB" sz="2200" dirty="0" err="1"/>
              <a:t>ra</a:t>
            </a:r>
            <a:r>
              <a:rPr lang="en-GB" sz="2200" dirty="0"/>
              <a:t> </a:t>
            </a:r>
            <a:r>
              <a:rPr lang="en-GB" sz="2200" dirty="0" err="1"/>
              <a:t>khỏi</a:t>
            </a:r>
            <a:r>
              <a:rPr lang="en-GB" sz="2200" dirty="0"/>
              <a:t> CSDL</a:t>
            </a:r>
          </a:p>
          <a:p>
            <a:pPr marL="0" indent="0" eaLnBrk="1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r>
              <a:rPr lang="en-GB" sz="2200"/>
              <a:t>13.Xóa </a:t>
            </a:r>
            <a:r>
              <a:rPr lang="en-GB" sz="2200" dirty="0" err="1"/>
              <a:t>khỏi</a:t>
            </a:r>
            <a:r>
              <a:rPr lang="en-GB" sz="2200" dirty="0"/>
              <a:t> </a:t>
            </a:r>
            <a:r>
              <a:rPr lang="en-GB" sz="2200" dirty="0" err="1"/>
              <a:t>bảng</a:t>
            </a:r>
            <a:r>
              <a:rPr lang="en-GB" sz="2200" dirty="0"/>
              <a:t> NHANVIEN </a:t>
            </a:r>
            <a:r>
              <a:rPr lang="en-GB" sz="2200" dirty="0" err="1"/>
              <a:t>những</a:t>
            </a:r>
            <a:r>
              <a:rPr lang="en-GB" sz="2200" dirty="0"/>
              <a:t> </a:t>
            </a:r>
            <a:r>
              <a:rPr lang="en-GB" sz="2200" dirty="0" err="1"/>
              <a:t>nhân</a:t>
            </a:r>
            <a:r>
              <a:rPr lang="en-GB" sz="2200" dirty="0"/>
              <a:t> </a:t>
            </a:r>
            <a:r>
              <a:rPr lang="en-GB" sz="2200" dirty="0" err="1"/>
              <a:t>viên</a:t>
            </a:r>
            <a:r>
              <a:rPr lang="en-GB" sz="2200" dirty="0"/>
              <a:t> </a:t>
            </a:r>
            <a:r>
              <a:rPr lang="en-GB" sz="2200" dirty="0" err="1"/>
              <a:t>đã</a:t>
            </a:r>
            <a:r>
              <a:rPr lang="en-GB" sz="2200" dirty="0"/>
              <a:t> </a:t>
            </a:r>
            <a:r>
              <a:rPr lang="en-GB" sz="2200" dirty="0" err="1"/>
              <a:t>làm</a:t>
            </a:r>
            <a:r>
              <a:rPr lang="en-GB" sz="2200" dirty="0"/>
              <a:t> </a:t>
            </a:r>
            <a:r>
              <a:rPr lang="en-GB" sz="2200" dirty="0" err="1"/>
              <a:t>việc</a:t>
            </a:r>
            <a:r>
              <a:rPr lang="en-GB" sz="2200" dirty="0"/>
              <a:t> </a:t>
            </a:r>
            <a:r>
              <a:rPr lang="en-GB" sz="2200" dirty="0" err="1"/>
              <a:t>cho</a:t>
            </a:r>
            <a:r>
              <a:rPr lang="en-GB" sz="2200" dirty="0"/>
              <a:t> </a:t>
            </a:r>
            <a:r>
              <a:rPr lang="en-GB" sz="2200" dirty="0" err="1"/>
              <a:t>công</a:t>
            </a:r>
            <a:r>
              <a:rPr lang="en-GB" sz="2200" dirty="0"/>
              <a:t> </a:t>
            </a:r>
            <a:r>
              <a:rPr lang="en-GB" sz="2200" dirty="0" err="1"/>
              <a:t>ty</a:t>
            </a:r>
            <a:r>
              <a:rPr lang="en-GB" sz="2200" dirty="0"/>
              <a:t> </a:t>
            </a:r>
            <a:r>
              <a:rPr lang="en-GB" sz="2200" dirty="0" err="1"/>
              <a:t>trên</a:t>
            </a:r>
            <a:r>
              <a:rPr lang="en-GB" sz="2200" dirty="0"/>
              <a:t> 40 </a:t>
            </a:r>
            <a:r>
              <a:rPr lang="en-GB" sz="2200" dirty="0" err="1"/>
              <a:t>năm</a:t>
            </a:r>
            <a:endParaRPr lang="en-GB" sz="2200" dirty="0"/>
          </a:p>
          <a:p>
            <a:pPr marL="0" indent="0">
              <a:lnSpc>
                <a:spcPct val="100000"/>
              </a:lnSpc>
              <a:buClr>
                <a:srgbClr val="000000"/>
              </a:buClr>
              <a:buNone/>
              <a:tabLst>
                <a:tab pos="49213" algn="l"/>
                <a:tab pos="506413" algn="l"/>
                <a:tab pos="963613" algn="l"/>
                <a:tab pos="1420813" algn="l"/>
                <a:tab pos="1878013" algn="l"/>
                <a:tab pos="2335213" algn="l"/>
                <a:tab pos="2792413" algn="l"/>
                <a:tab pos="3249613" algn="l"/>
                <a:tab pos="3706813" algn="l"/>
                <a:tab pos="4164013" algn="l"/>
                <a:tab pos="4621213" algn="l"/>
                <a:tab pos="5078413" algn="l"/>
                <a:tab pos="5535613" algn="l"/>
                <a:tab pos="5992813" algn="l"/>
                <a:tab pos="6450013" algn="l"/>
                <a:tab pos="6907213" algn="l"/>
                <a:tab pos="7364413" algn="l"/>
                <a:tab pos="7821613" algn="l"/>
                <a:tab pos="8278813" algn="l"/>
                <a:tab pos="8736013" algn="l"/>
              </a:tabLst>
            </a:pPr>
            <a:endParaRPr lang="en-GB" sz="22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3513</TotalTime>
  <Words>2459</Words>
  <Application>Microsoft Office PowerPoint</Application>
  <PresentationFormat>Custom</PresentationFormat>
  <Paragraphs>475</Paragraphs>
  <Slides>82</Slides>
  <Notes>81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Arial</vt:lpstr>
      <vt:lpstr>Arial Unicode MS</vt:lpstr>
      <vt:lpstr>Calibri</vt:lpstr>
      <vt:lpstr>Calibri Light</vt:lpstr>
      <vt:lpstr>Symbol</vt:lpstr>
      <vt:lpstr>Times New Roman</vt:lpstr>
      <vt:lpstr>Times New Roman;Times New Roman</vt:lpstr>
      <vt:lpstr>Wingdings</vt:lpstr>
      <vt:lpstr>Office Theme</vt:lpstr>
      <vt:lpstr>MathType 7.0 Equation</vt:lpstr>
      <vt:lpstr>SQL</vt:lpstr>
      <vt:lpstr>Nội dung</vt:lpstr>
      <vt:lpstr>SQL</vt:lpstr>
      <vt:lpstr>Câu lệnh SQL</vt:lpstr>
      <vt:lpstr>Câu lệnh SQL</vt:lpstr>
      <vt:lpstr>Kiểu dữ liệu trong SQL</vt:lpstr>
      <vt:lpstr>Kiểu dữ liệu trong SQL</vt:lpstr>
      <vt:lpstr>Nội dung</vt:lpstr>
      <vt:lpstr>Giới thiệu SQL Server</vt:lpstr>
      <vt:lpstr>Giới thiệu SQL Server</vt:lpstr>
      <vt:lpstr>Giới thiệu SQL Server</vt:lpstr>
      <vt:lpstr>Nội dung</vt:lpstr>
      <vt:lpstr>T-SQL</vt:lpstr>
      <vt:lpstr>T-SQL</vt:lpstr>
      <vt:lpstr>Ngôn ngữ định nghĩa dữ liệu </vt:lpstr>
      <vt:lpstr>PowerPoint Presentation</vt:lpstr>
      <vt:lpstr>Tạo, xóa CSDL  </vt:lpstr>
      <vt:lpstr>Tạo bảng - CREATE TABLE</vt:lpstr>
      <vt:lpstr>CREATE TABLE</vt:lpstr>
      <vt:lpstr>CREATE TABLE</vt:lpstr>
      <vt:lpstr>CREATE TABLE</vt:lpstr>
      <vt:lpstr>CREATE TABLE</vt:lpstr>
      <vt:lpstr>CREATE TABLE</vt:lpstr>
      <vt:lpstr>CREATE TABLE</vt:lpstr>
      <vt:lpstr>Sửa nội dung bảng- ALTER TABLE</vt:lpstr>
      <vt:lpstr>ALTER TABLE</vt:lpstr>
      <vt:lpstr>ALTER TABLE</vt:lpstr>
      <vt:lpstr>ALTER TABLE</vt:lpstr>
      <vt:lpstr>ALTER TABLE</vt:lpstr>
      <vt:lpstr>ALTER TABLE</vt:lpstr>
      <vt:lpstr>Xóa bảng - DROP TABLE</vt:lpstr>
      <vt:lpstr>T-SQL</vt:lpstr>
      <vt:lpstr>Ngôn ngữ thao tác dữ liệu DML – Data Manipulation Language</vt:lpstr>
      <vt:lpstr>SELECT</vt:lpstr>
      <vt:lpstr>SELECT</vt:lpstr>
      <vt:lpstr>SELECT</vt:lpstr>
      <vt:lpstr>SELECT – Truy vấn thường</vt:lpstr>
      <vt:lpstr>SELECT</vt:lpstr>
      <vt:lpstr>SELECT – Truy vấn có điều kiện</vt:lpstr>
      <vt:lpstr>Các toán tử so sánh</vt:lpstr>
      <vt:lpstr>BETWEEN</vt:lpstr>
      <vt:lpstr>Từ khóa LIKE</vt:lpstr>
      <vt:lpstr>SELECT</vt:lpstr>
      <vt:lpstr>Tạo bảng mới từ kết quả của SELECT</vt:lpstr>
      <vt:lpstr>SELECT</vt:lpstr>
      <vt:lpstr>Sắp xếp kết quả truy vấn</vt:lpstr>
      <vt:lpstr>SELECT</vt:lpstr>
      <vt:lpstr>Phép nối</vt:lpstr>
      <vt:lpstr>Phép nối</vt:lpstr>
      <vt:lpstr>Phép nối ngoài</vt:lpstr>
      <vt:lpstr>Phép nối ngoài</vt:lpstr>
      <vt:lpstr>Phép nối ngoài</vt:lpstr>
      <vt:lpstr>Phép nối ngoài (LEFT OUTER JOIN)‏</vt:lpstr>
      <vt:lpstr>Phép nối ngoài (RIGHT OUTER JOIN)‏</vt:lpstr>
      <vt:lpstr>Phép nối ngoài (RIGHT OUTER JOIN)‏</vt:lpstr>
      <vt:lpstr>Phép nối ngoài (FULL OUTER JOIN)‏</vt:lpstr>
      <vt:lpstr>Phép nối ngoài (FULL OUTER JOIN)‏</vt:lpstr>
      <vt:lpstr>Phép nối nhiều bảng</vt:lpstr>
      <vt:lpstr>SELECT</vt:lpstr>
      <vt:lpstr>Thống kê dữ liệu với GROUP BY</vt:lpstr>
      <vt:lpstr>Thống kê dữ liệu với GROUP BY</vt:lpstr>
      <vt:lpstr>Thống kê dữ liệu với GROUP BY</vt:lpstr>
      <vt:lpstr>Thống kê dữ liệu với GROUP BY</vt:lpstr>
      <vt:lpstr>Thống kê dữ liệu với GROUP BY</vt:lpstr>
      <vt:lpstr>Thống kê dữ liệu với GROUP BY</vt:lpstr>
      <vt:lpstr>SELECT</vt:lpstr>
      <vt:lpstr>Truy vấn con (Subquery)‏</vt:lpstr>
      <vt:lpstr>Truy vấn con (Subquery)‏</vt:lpstr>
      <vt:lpstr>Truy vấn con (Subquery)‏</vt:lpstr>
      <vt:lpstr>Ngôn ngữ thao tác dữ liệu DML – Data Manipulation Language</vt:lpstr>
      <vt:lpstr>Bổ sung dữ liệu: INSERT</vt:lpstr>
      <vt:lpstr>Bổ sung dữ liệu: INSERT</vt:lpstr>
      <vt:lpstr>Bổ sung dữ liệu: INSERT</vt:lpstr>
      <vt:lpstr>Ngôn ngữ thao tác dữ liệu DML – Data Manipulation Language</vt:lpstr>
      <vt:lpstr>Bổ sung dữ liệu: UPDATE</vt:lpstr>
      <vt:lpstr>Bổ sung dữ liệu: UPDATE</vt:lpstr>
      <vt:lpstr>Ngôn ngữ thao tác dữ liệu DML – Data Manipulation Language</vt:lpstr>
      <vt:lpstr>Xóa dữ liệu: DELETE</vt:lpstr>
      <vt:lpstr>Xóa dữ liệu: DELETE</vt:lpstr>
      <vt:lpstr>PowerPoint Presentation</vt:lpstr>
      <vt:lpstr>PowerPoint Presentation</vt:lpstr>
      <vt:lpstr>Bài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with Orange</dc:title>
  <dc:creator>NQT</dc:creator>
  <dc:description>Orange title on dark blue background with orange stripes on bottom border</dc:description>
  <cp:lastModifiedBy>LƯU PHƯƠNG THẢO</cp:lastModifiedBy>
  <cp:revision>76</cp:revision>
  <dcterms:modified xsi:type="dcterms:W3CDTF">2023-10-27T09:59:46Z</dcterms:modified>
</cp:coreProperties>
</file>